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presProps.xml" ContentType="application/vnd.openxmlformats-officedocument.presentationml.presProps+xml"/>
  <Override PartName="/ppt/media/image1.jpeg" ContentType="image/jpeg"/>
  <Override PartName="/ppt/media/image3.png" ContentType="image/png"/>
  <Override PartName="/ppt/media/image2.gif" ContentType="image/gif"/>
  <Override PartName="/ppt/media/image7.png" ContentType="image/png"/>
  <Override PartName="/ppt/media/image4.png" ContentType="image/png"/>
  <Override PartName="/ppt/media/image5.png" ContentType="image/png"/>
  <Override PartName="/ppt/media/image6.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iapositiva de título">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6" name="PlaceHolder 2"/>
          <p:cNvSpPr>
            <a:spLocks noGrp="1"/>
          </p:cNvSpPr>
          <p:nvPr>
            <p:ph type="subTitle"/>
          </p:nvPr>
        </p:nvSpPr>
        <p:spPr>
          <a:xfrm>
            <a:off x="838080" y="1825560"/>
            <a:ext cx="10514880" cy="4350600"/>
          </a:xfrm>
          <a:prstGeom prst="rect">
            <a:avLst/>
          </a:prstGeom>
          <a:noFill/>
          <a:ln w="0">
            <a:noFill/>
          </a:ln>
        </p:spPr>
        <p:txBody>
          <a:bodyPr lIns="0" rIns="0" tIns="0" bIns="0" anchor="ctr">
            <a:noAutofit/>
          </a:bodyPr>
          <a:p>
            <a:pPr indent="0" algn="ctr">
              <a:buNone/>
            </a:pPr>
            <a:endParaRPr b="0" lang="es-E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E71CAD33-F051-45BB-AE3F-5E3F59894D05}" type="slidenum">
              <a:t>&lt;#&gt;</a:t>
            </a:fld>
          </a:p>
        </p:txBody>
      </p:sp>
      <p:sp>
        <p:nvSpPr>
          <p:cNvPr id="6" name="PlaceHolder 5"/>
          <p:cNvSpPr>
            <a:spLocks noGrp="1"/>
          </p:cNvSpPr>
          <p:nvPr>
            <p:ph type="dt" idx="3"/>
          </p:nvPr>
        </p:nvSpPr>
        <p:spPr/>
        <p:txBody>
          <a:bodyPr/>
          <a:p>
            <a:r>
              <a:rPr lang="es-E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ítulo y texto vertical">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535B2AA0-BB1C-4181-986A-B1E5F0C3C06A}" type="slidenum">
              <a:t>&lt;#&gt;</a:t>
            </a:fld>
          </a:p>
        </p:txBody>
      </p:sp>
      <p:sp>
        <p:nvSpPr>
          <p:cNvPr id="4" name="PlaceHolder 3"/>
          <p:cNvSpPr>
            <a:spLocks noGrp="1"/>
          </p:cNvSpPr>
          <p:nvPr>
            <p:ph type="dt" idx="6"/>
          </p:nvPr>
        </p:nvSpPr>
        <p:spPr/>
        <p:txBody>
          <a:bodyPr/>
          <a:p>
            <a:r>
              <a:rPr lang="es-E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ítulo vertical y texto">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E94AF2B2-9FFB-49BA-8383-6F52369B5D0B}" type="slidenum">
              <a:t>&lt;#&gt;</a:t>
            </a:fld>
          </a:p>
        </p:txBody>
      </p:sp>
      <p:sp>
        <p:nvSpPr>
          <p:cNvPr id="4" name="PlaceHolder 3"/>
          <p:cNvSpPr>
            <a:spLocks noGrp="1"/>
          </p:cNvSpPr>
          <p:nvPr>
            <p:ph type="dt" idx="9"/>
          </p:nvPr>
        </p:nvSpPr>
        <p:spPr/>
        <p:txBody>
          <a:bodyPr/>
          <a:p>
            <a:r>
              <a:rPr lang="es-E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ítulo y objetos">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19" name="PlaceHolder 2"/>
          <p:cNvSpPr>
            <a:spLocks noGrp="1"/>
          </p:cNvSpPr>
          <p:nvPr>
            <p:ph/>
          </p:nvPr>
        </p:nvSpPr>
        <p:spPr>
          <a:xfrm>
            <a:off x="838080" y="1825560"/>
            <a:ext cx="10514880" cy="435060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5FB2B1B2-5DC2-4864-82C8-14CCD7BF6D50}" type="slidenum">
              <a:t>&lt;#&gt;</a:t>
            </a:fld>
          </a:p>
        </p:txBody>
      </p:sp>
      <p:sp>
        <p:nvSpPr>
          <p:cNvPr id="6" name="PlaceHolder 5"/>
          <p:cNvSpPr>
            <a:spLocks noGrp="1"/>
          </p:cNvSpPr>
          <p:nvPr>
            <p:ph type="dt" idx="12"/>
          </p:nvPr>
        </p:nvSpPr>
        <p:spPr/>
        <p:txBody>
          <a:bodyPr/>
          <a:p>
            <a:r>
              <a:rPr lang="es-E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cabezado de sección">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645D68D5-BA9B-436C-8CEF-065308D1D27D}" type="slidenum">
              <a:t>&lt;#&gt;</a:t>
            </a:fld>
          </a:p>
        </p:txBody>
      </p:sp>
      <p:sp>
        <p:nvSpPr>
          <p:cNvPr id="4" name="PlaceHolder 3"/>
          <p:cNvSpPr>
            <a:spLocks noGrp="1"/>
          </p:cNvSpPr>
          <p:nvPr>
            <p:ph type="dt" idx="15"/>
          </p:nvPr>
        </p:nvSpPr>
        <p:spPr/>
        <p:txBody>
          <a:bodyPr/>
          <a:p>
            <a:r>
              <a:rPr lang="es-E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os objetos">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30" name="PlaceHolder 2"/>
          <p:cNvSpPr>
            <a:spLocks noGrp="1"/>
          </p:cNvSpPr>
          <p:nvPr>
            <p:ph/>
          </p:nvPr>
        </p:nvSpPr>
        <p:spPr>
          <a:xfrm>
            <a:off x="838080" y="1825560"/>
            <a:ext cx="5131080" cy="435060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31" name="PlaceHolder 3"/>
          <p:cNvSpPr>
            <a:spLocks noGrp="1"/>
          </p:cNvSpPr>
          <p:nvPr>
            <p:ph/>
          </p:nvPr>
        </p:nvSpPr>
        <p:spPr>
          <a:xfrm>
            <a:off x="6226200" y="1825560"/>
            <a:ext cx="5131080" cy="435060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F47B2D84-9E67-438B-8CBD-86686CC1D125}" type="slidenum">
              <a:t>&lt;#&gt;</a:t>
            </a:fld>
          </a:p>
        </p:txBody>
      </p:sp>
      <p:sp>
        <p:nvSpPr>
          <p:cNvPr id="7" name="PlaceHolder 6"/>
          <p:cNvSpPr>
            <a:spLocks noGrp="1"/>
          </p:cNvSpPr>
          <p:nvPr>
            <p:ph type="dt" idx="18"/>
          </p:nvPr>
        </p:nvSpPr>
        <p:spPr/>
        <p:txBody>
          <a:bodyPr/>
          <a:p>
            <a:r>
              <a:rPr lang="es-E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ació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27969D2B-16FF-494B-92A5-B1B8F9C47E2D}" type="slidenum">
              <a:t>&lt;#&gt;</a:t>
            </a:fld>
          </a:p>
        </p:txBody>
      </p:sp>
      <p:sp>
        <p:nvSpPr>
          <p:cNvPr id="4" name="PlaceHolder 3"/>
          <p:cNvSpPr>
            <a:spLocks noGrp="1"/>
          </p:cNvSpPr>
          <p:nvPr>
            <p:ph type="dt" idx="21"/>
          </p:nvPr>
        </p:nvSpPr>
        <p:spPr/>
        <p:txBody>
          <a:bodyPr/>
          <a:p>
            <a:r>
              <a:rPr lang="es-E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Solo el título">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E2D59506-99BF-4304-ABF1-522A16941D14}" type="slidenum">
              <a:t>&lt;#&gt;</a:t>
            </a:fld>
          </a:p>
        </p:txBody>
      </p:sp>
      <p:sp>
        <p:nvSpPr>
          <p:cNvPr id="5" name="PlaceHolder 4"/>
          <p:cNvSpPr>
            <a:spLocks noGrp="1"/>
          </p:cNvSpPr>
          <p:nvPr>
            <p:ph type="dt" idx="24"/>
          </p:nvPr>
        </p:nvSpPr>
        <p:spPr/>
        <p:txBody>
          <a:bodyPr/>
          <a:p>
            <a:r>
              <a:rPr lang="es-E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 blanco">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BE2723EB-3B91-4ED3-8B23-1F7EFC50A57A}" type="slidenum">
              <a:t>&lt;#&gt;</a:t>
            </a:fld>
          </a:p>
        </p:txBody>
      </p:sp>
      <p:sp>
        <p:nvSpPr>
          <p:cNvPr id="4" name="PlaceHolder 3"/>
          <p:cNvSpPr>
            <a:spLocks noGrp="1"/>
          </p:cNvSpPr>
          <p:nvPr>
            <p:ph type="dt" idx="27"/>
          </p:nvPr>
        </p:nvSpPr>
        <p:spPr/>
        <p:txBody>
          <a:bodyPr/>
          <a:p>
            <a:r>
              <a:rPr lang="es-E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ido con título">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A4D8E6A2-68A3-418F-8970-729A92AF011A}" type="slidenum">
              <a:t>&lt;#&gt;</a:t>
            </a:fld>
          </a:p>
        </p:txBody>
      </p:sp>
      <p:sp>
        <p:nvSpPr>
          <p:cNvPr id="4" name="PlaceHolder 3"/>
          <p:cNvSpPr>
            <a:spLocks noGrp="1"/>
          </p:cNvSpPr>
          <p:nvPr>
            <p:ph type="dt" idx="30"/>
          </p:nvPr>
        </p:nvSpPr>
        <p:spPr/>
        <p:txBody>
          <a:bodyPr/>
          <a:p>
            <a:r>
              <a:rPr lang="es-E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magen con título">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0FFE1CF5-50E4-42AD-8E14-9D62128842C0}" type="slidenum">
              <a:t>&lt;#&gt;</a:t>
            </a:fld>
          </a:p>
        </p:txBody>
      </p:sp>
      <p:sp>
        <p:nvSpPr>
          <p:cNvPr id="4" name="PlaceHolder 3"/>
          <p:cNvSpPr>
            <a:spLocks noGrp="1"/>
          </p:cNvSpPr>
          <p:nvPr>
            <p:ph type="dt" idx="33"/>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formato del texto de título</a:t>
            </a:r>
            <a:endParaRPr b="0" lang="es-ES" sz="1800" spc="-1" strike="noStrike">
              <a:solidFill>
                <a:srgbClr val="000000"/>
              </a:solidFill>
              <a:latin typeface="Arial"/>
            </a:endParaRPr>
          </a:p>
        </p:txBody>
      </p:sp>
      <p:sp>
        <p:nvSpPr>
          <p:cNvPr id="1" name="PlaceHolder 2"/>
          <p:cNvSpPr>
            <a:spLocks noGrp="1"/>
          </p:cNvSpPr>
          <p:nvPr>
            <p:ph type="ftr" idx="1"/>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 </a:t>
            </a:r>
            <a:endParaRPr b="0" lang="es-E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323655AD-AF04-4B3A-94D2-2D23DEF88E55}" type="slidenum">
              <a:rPr b="0" lang="es-ES" sz="1200" spc="-1" strike="noStrike">
                <a:solidFill>
                  <a:schemeClr val="dk1">
                    <a:tint val="75000"/>
                  </a:schemeClr>
                </a:solidFill>
                <a:latin typeface="Calibri"/>
              </a:rPr>
              <a:t>11</a:t>
            </a:fld>
            <a:endParaRPr b="0" lang="es-E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 </a:t>
            </a:r>
            <a:endParaRPr b="0" lang="es-ES"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3200" spc="-1" strike="noStrike">
                <a:solidFill>
                  <a:srgbClr val="000000"/>
                </a:solidFill>
                <a:latin typeface="Arial"/>
              </a:rPr>
              <a:t>Pulse para editar el formato de texto del esquema</a:t>
            </a:r>
            <a:endParaRPr b="0" lang="es-E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2800" spc="-1" strike="noStrike">
                <a:solidFill>
                  <a:srgbClr val="000000"/>
                </a:solidFill>
                <a:latin typeface="Arial"/>
              </a:rPr>
              <a:t>Segundo nivel del esquema</a:t>
            </a:r>
            <a:endParaRPr b="0" lang="es-E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2400" spc="-1" strike="noStrike">
                <a:solidFill>
                  <a:srgbClr val="000000"/>
                </a:solidFill>
                <a:latin typeface="Arial"/>
              </a:rPr>
              <a:t>Tercer nivel del esquema</a:t>
            </a:r>
            <a:endParaRPr b="0" lang="es-E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2000" spc="-1" strike="noStrike">
                <a:solidFill>
                  <a:srgbClr val="000000"/>
                </a:solidFill>
                <a:latin typeface="Arial"/>
              </a:rPr>
              <a:t>Cuarto nivel del esquema</a:t>
            </a:r>
            <a:endParaRPr b="0" lang="es-E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2000" spc="-1" strike="noStrike">
                <a:solidFill>
                  <a:srgbClr val="000000"/>
                </a:solidFill>
                <a:latin typeface="Arial"/>
              </a:rPr>
              <a:t>Quinto nivel del esquema</a:t>
            </a:r>
            <a:endParaRPr b="0" lang="es-E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2000" spc="-1" strike="noStrike">
                <a:solidFill>
                  <a:srgbClr val="000000"/>
                </a:solidFill>
                <a:latin typeface="Arial"/>
              </a:rPr>
              <a:t>Sexto nivel del esquema</a:t>
            </a:r>
            <a:endParaRPr b="0" lang="es-E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2000" spc="-1" strike="noStrike">
                <a:solidFill>
                  <a:srgbClr val="000000"/>
                </a:solidFill>
                <a:latin typeface="Arial"/>
              </a:rPr>
              <a:t>Séptimo nivel del esquema</a:t>
            </a:r>
            <a:endParaRPr b="0" lang="es-E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8" name="PlaceHolder 2"/>
          <p:cNvSpPr>
            <a:spLocks noGrp="1"/>
          </p:cNvSpPr>
          <p:nvPr>
            <p:ph type="sldNum" idx="5"/>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68A54815-73C1-4FB2-BF07-5E3A5EEE647B}"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9" name="PlaceHolder 3"/>
          <p:cNvSpPr>
            <a:spLocks noGrp="1"/>
          </p:cNvSpPr>
          <p:nvPr>
            <p:ph type="dt" idx="6"/>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11" name="PlaceHolder 2"/>
          <p:cNvSpPr>
            <a:spLocks noGrp="1"/>
          </p:cNvSpPr>
          <p:nvPr>
            <p:ph type="sldNum" idx="8"/>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527F9165-E130-4442-876B-129029C6B41A}"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12" name="PlaceHolder 3"/>
          <p:cNvSpPr>
            <a:spLocks noGrp="1"/>
          </p:cNvSpPr>
          <p:nvPr>
            <p:ph type="dt" idx="9"/>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formato del texto de título</a:t>
            </a:r>
            <a:endParaRPr b="0" lang="es-ES" sz="1800" spc="-1" strike="noStrike">
              <a:solidFill>
                <a:srgbClr val="000000"/>
              </a:solidFill>
              <a:latin typeface="Arial"/>
            </a:endParaRPr>
          </a:p>
        </p:txBody>
      </p:sp>
      <p:sp>
        <p:nvSpPr>
          <p:cNvPr id="14" name="PlaceHolder 2"/>
          <p:cNvSpPr>
            <a:spLocks noGrp="1"/>
          </p:cNvSpPr>
          <p:nvPr>
            <p:ph type="body"/>
          </p:nvPr>
        </p:nvSpPr>
        <p:spPr>
          <a:xfrm>
            <a:off x="838080" y="1825560"/>
            <a:ext cx="1051488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15" name="PlaceHolder 3"/>
          <p:cNvSpPr>
            <a:spLocks noGrp="1"/>
          </p:cNvSpPr>
          <p:nvPr>
            <p:ph type="ftr" idx="10"/>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16" name="PlaceHolder 4"/>
          <p:cNvSpPr>
            <a:spLocks noGrp="1"/>
          </p:cNvSpPr>
          <p:nvPr>
            <p:ph type="sldNum" idx="11"/>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8CF341BA-2783-4DF4-BDFB-2B19D762A3D2}"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17" name="PlaceHolder 5"/>
          <p:cNvSpPr>
            <a:spLocks noGrp="1"/>
          </p:cNvSpPr>
          <p:nvPr>
            <p:ph type="dt" idx="12"/>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21" name="PlaceHolder 2"/>
          <p:cNvSpPr>
            <a:spLocks noGrp="1"/>
          </p:cNvSpPr>
          <p:nvPr>
            <p:ph type="sldNum" idx="14"/>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A9DDAA4F-8B59-4CD0-B3D7-E2602E2B0EA7}"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22" name="PlaceHolder 3"/>
          <p:cNvSpPr>
            <a:spLocks noGrp="1"/>
          </p:cNvSpPr>
          <p:nvPr>
            <p:ph type="dt" idx="15"/>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formato del texto de título</a:t>
            </a:r>
            <a:endParaRPr b="0" lang="es-ES" sz="1800" spc="-1" strike="noStrike">
              <a:solidFill>
                <a:srgbClr val="000000"/>
              </a:solidFill>
              <a:latin typeface="Arial"/>
            </a:endParaRPr>
          </a:p>
        </p:txBody>
      </p:sp>
      <p:sp>
        <p:nvSpPr>
          <p:cNvPr id="24" name="PlaceHolder 2"/>
          <p:cNvSpPr>
            <a:spLocks noGrp="1"/>
          </p:cNvSpPr>
          <p:nvPr>
            <p:ph type="body"/>
          </p:nvPr>
        </p:nvSpPr>
        <p:spPr>
          <a:xfrm>
            <a:off x="838080" y="1825560"/>
            <a:ext cx="513072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25" name="PlaceHolder 3"/>
          <p:cNvSpPr>
            <a:spLocks noGrp="1"/>
          </p:cNvSpPr>
          <p:nvPr>
            <p:ph type="body"/>
          </p:nvPr>
        </p:nvSpPr>
        <p:spPr>
          <a:xfrm>
            <a:off x="6226200" y="1825560"/>
            <a:ext cx="513072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26" name="PlaceHolder 4"/>
          <p:cNvSpPr>
            <a:spLocks noGrp="1"/>
          </p:cNvSpPr>
          <p:nvPr>
            <p:ph type="ftr" idx="16"/>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27" name="PlaceHolder 5"/>
          <p:cNvSpPr>
            <a:spLocks noGrp="1"/>
          </p:cNvSpPr>
          <p:nvPr>
            <p:ph type="sldNum" idx="17"/>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CA92BBA9-EE43-4F35-82BE-16BAA5292B80}"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28" name="PlaceHolder 6"/>
          <p:cNvSpPr>
            <a:spLocks noGrp="1"/>
          </p:cNvSpPr>
          <p:nvPr>
            <p:ph type="dt" idx="18"/>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33" name="PlaceHolder 2"/>
          <p:cNvSpPr>
            <a:spLocks noGrp="1"/>
          </p:cNvSpPr>
          <p:nvPr>
            <p:ph type="sldNum" idx="20"/>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951F9309-E91D-45B8-AFF3-16072FE3D947}"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34" name="PlaceHolder 3"/>
          <p:cNvSpPr>
            <a:spLocks noGrp="1"/>
          </p:cNvSpPr>
          <p:nvPr>
            <p:ph type="dt" idx="21"/>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formato del texto de título</a:t>
            </a:r>
            <a:endParaRPr b="0" lang="es-ES" sz="1800" spc="-1" strike="noStrike">
              <a:solidFill>
                <a:srgbClr val="000000"/>
              </a:solidFill>
              <a:latin typeface="Arial"/>
            </a:endParaRPr>
          </a:p>
        </p:txBody>
      </p:sp>
      <p:sp>
        <p:nvSpPr>
          <p:cNvPr id="36" name="PlaceHolder 2"/>
          <p:cNvSpPr>
            <a:spLocks noGrp="1"/>
          </p:cNvSpPr>
          <p:nvPr>
            <p:ph type="ftr" idx="22"/>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37" name="PlaceHolder 3"/>
          <p:cNvSpPr>
            <a:spLocks noGrp="1"/>
          </p:cNvSpPr>
          <p:nvPr>
            <p:ph type="sldNum" idx="23"/>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85AEF4A3-12D7-4A20-901D-BE4B0668D525}"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38" name="PlaceHolder 4"/>
          <p:cNvSpPr>
            <a:spLocks noGrp="1"/>
          </p:cNvSpPr>
          <p:nvPr>
            <p:ph type="dt" idx="24"/>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41" name="PlaceHolder 2"/>
          <p:cNvSpPr>
            <a:spLocks noGrp="1"/>
          </p:cNvSpPr>
          <p:nvPr>
            <p:ph type="sldNum" idx="26"/>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40D14C81-7213-4AA4-BB41-B54008D10B68}"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42" name="PlaceHolder 3"/>
          <p:cNvSpPr>
            <a:spLocks noGrp="1"/>
          </p:cNvSpPr>
          <p:nvPr>
            <p:ph type="dt" idx="27"/>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44" name="PlaceHolder 2"/>
          <p:cNvSpPr>
            <a:spLocks noGrp="1"/>
          </p:cNvSpPr>
          <p:nvPr>
            <p:ph type="sldNum" idx="29"/>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23A0601C-6C15-4431-A3D9-A5062780335A}"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45" name="PlaceHolder 3"/>
          <p:cNvSpPr>
            <a:spLocks noGrp="1"/>
          </p:cNvSpPr>
          <p:nvPr>
            <p:ph type="dt" idx="30"/>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s-ES" sz="1400" spc="-1" strike="noStrike">
                <a:solidFill>
                  <a:srgbClr val="000000"/>
                </a:solidFill>
                <a:latin typeface="Times New Roman"/>
              </a:defRPr>
            </a:lvl1pPr>
          </a:lstStyle>
          <a:p>
            <a:pPr indent="0" algn="ctr">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47" name="PlaceHolder 2"/>
          <p:cNvSpPr>
            <a:spLocks noGrp="1"/>
          </p:cNvSpPr>
          <p:nvPr>
            <p:ph type="sldNum" idx="32"/>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11ACB5CF-8EF6-487B-8D3F-3F8F956EBC9F}"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48" name="PlaceHolder 3"/>
          <p:cNvSpPr>
            <a:spLocks noGrp="1"/>
          </p:cNvSpPr>
          <p:nvPr>
            <p:ph type="dt" idx="33"/>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gif"/><Relationship Id="rId3"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 Target="slide3.xml"/><Relationship Id="rId2" Type="http://schemas.openxmlformats.org/officeDocument/2006/relationships/image" Target="../media/image3.png"/><Relationship Id="rId3" Type="http://schemas.openxmlformats.org/officeDocument/2006/relationships/slide" Target="slide4.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 Target="slide11.xml"/><Relationship Id="rId7" Type="http://schemas.openxmlformats.org/officeDocument/2006/relationships/image" Target="../media/image6.png"/><Relationship Id="rId8" Type="http://schemas.openxmlformats.org/officeDocument/2006/relationships/slide" Target="slide5.xml"/><Relationship Id="rId9" Type="http://schemas.openxmlformats.org/officeDocument/2006/relationships/image" Target="../media/image5.png"/><Relationship Id="rId10"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 name="Imagen 8" descr=""/>
          <p:cNvPicPr/>
          <p:nvPr/>
        </p:nvPicPr>
        <p:blipFill>
          <a:blip r:embed="rId1"/>
          <a:stretch/>
        </p:blipFill>
        <p:spPr>
          <a:xfrm>
            <a:off x="0" y="-2160"/>
            <a:ext cx="12186360" cy="6854760"/>
          </a:xfrm>
          <a:prstGeom prst="rect">
            <a:avLst/>
          </a:prstGeom>
          <a:ln w="0">
            <a:noFill/>
          </a:ln>
        </p:spPr>
      </p:pic>
      <p:pic>
        <p:nvPicPr>
          <p:cNvPr id="50" name="Imagen 5" descr=""/>
          <p:cNvPicPr/>
          <p:nvPr/>
        </p:nvPicPr>
        <p:blipFill>
          <a:blip r:embed="rId2"/>
          <a:stretch/>
        </p:blipFill>
        <p:spPr>
          <a:xfrm>
            <a:off x="6091200" y="3424320"/>
            <a:ext cx="8640" cy="8640"/>
          </a:xfrm>
          <a:prstGeom prst="rect">
            <a:avLst/>
          </a:prstGeom>
          <a:ln w="0">
            <a:noFill/>
          </a:ln>
        </p:spPr>
      </p:pic>
      <p:sp>
        <p:nvSpPr>
          <p:cNvPr id="51" name="CuadroTexto 12"/>
          <p:cNvSpPr/>
          <p:nvPr/>
        </p:nvSpPr>
        <p:spPr>
          <a:xfrm>
            <a:off x="7229880" y="727920"/>
            <a:ext cx="4956840" cy="363960"/>
          </a:xfrm>
          <a:prstGeom prst="rect">
            <a:avLst/>
          </a:prstGeom>
          <a:noFill/>
          <a:ln w="0">
            <a:noFill/>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defTabSz="914400">
              <a:lnSpc>
                <a:spcPct val="100000"/>
              </a:lnSpc>
            </a:pPr>
            <a:r>
              <a:rPr b="1" lang="es-ES" sz="1800" spc="-1" strike="noStrike">
                <a:solidFill>
                  <a:schemeClr val="lt1"/>
                </a:solidFill>
                <a:latin typeface="Calibri"/>
              </a:rPr>
              <a:t>Oferta turística vs precios de vivienda en Madrid</a:t>
            </a:r>
            <a:endParaRPr b="0" lang="es-ES" sz="1800" spc="-1" strike="noStrike">
              <a:solidFill>
                <a:srgbClr val="000000"/>
              </a:solidFill>
              <a:latin typeface="Arial"/>
            </a:endParaRPr>
          </a:p>
        </p:txBody>
      </p:sp>
      <p:sp>
        <p:nvSpPr>
          <p:cNvPr id="52" name="CuadroTexto 14"/>
          <p:cNvSpPr/>
          <p:nvPr/>
        </p:nvSpPr>
        <p:spPr>
          <a:xfrm>
            <a:off x="7229880" y="1097280"/>
            <a:ext cx="4741560" cy="1431360"/>
          </a:xfrm>
          <a:prstGeom prst="rect">
            <a:avLst/>
          </a:prstGeom>
          <a:noFill/>
          <a:ln w="0">
            <a:noFill/>
          </a:ln>
          <a:effectLst>
            <a:outerShdw algn="tl" blurRad="50760" dir="2700000" dist="37674" rotWithShape="0">
              <a:srgbClr val="000000">
                <a:alpha val="40000"/>
              </a:srgbClr>
            </a:outerShdw>
          </a:effectLst>
        </p:spPr>
        <p:style>
          <a:lnRef idx="0"/>
          <a:fillRef idx="0"/>
          <a:effectRef idx="0"/>
          <a:fontRef idx="minor"/>
        </p:style>
        <p:txBody>
          <a:bodyPr lIns="90000" rIns="90000" tIns="45000" bIns="45000" anchor="t">
            <a:spAutoFit/>
          </a:bodyPr>
          <a:p>
            <a:pPr defTabSz="914400">
              <a:lnSpc>
                <a:spcPct val="100000"/>
              </a:lnSpc>
            </a:pPr>
            <a:r>
              <a:rPr b="0" lang="es-ES" sz="1400" spc="-1" strike="noStrike">
                <a:solidFill>
                  <a:schemeClr val="lt1"/>
                </a:solidFill>
                <a:latin typeface="Calibri"/>
              </a:rPr>
              <a:t>Participantes:</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Nazareth Montero</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Javier Pascual</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Román Diaz</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Sara Ruiz</a:t>
            </a:r>
            <a:endParaRPr b="0" lang="es-ES" sz="14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54" name="CuadroTexto 7"/>
          <p:cNvSpPr/>
          <p:nvPr/>
        </p:nvSpPr>
        <p:spPr>
          <a:xfrm>
            <a:off x="527760" y="479520"/>
            <a:ext cx="11135520" cy="1156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7000" spc="-1" strike="noStrike">
                <a:solidFill>
                  <a:schemeClr val="accent2">
                    <a:lumMod val="50000"/>
                  </a:schemeClr>
                </a:solidFill>
                <a:latin typeface="Calibri Light"/>
              </a:rPr>
              <a:t>INDICE</a:t>
            </a:r>
            <a:endParaRPr b="0" lang="es-ES" sz="7000" spc="-1" strike="noStrike">
              <a:solidFill>
                <a:srgbClr val="000000"/>
              </a:solidFill>
              <a:latin typeface="Arial"/>
            </a:endParaRPr>
          </a:p>
        </p:txBody>
      </p:sp>
      <p:sp>
        <p:nvSpPr>
          <p:cNvPr id="55" name="CuadroTexto 8"/>
          <p:cNvSpPr/>
          <p:nvPr/>
        </p:nvSpPr>
        <p:spPr>
          <a:xfrm>
            <a:off x="619200" y="2551680"/>
            <a:ext cx="2582280" cy="668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1.  Definición del problema</a:t>
            </a:r>
            <a:endParaRPr b="0" lang="es-ES" sz="1900" spc="-1" strike="noStrike">
              <a:solidFill>
                <a:srgbClr val="000000"/>
              </a:solidFill>
              <a:latin typeface="Arial"/>
            </a:endParaRPr>
          </a:p>
        </p:txBody>
      </p:sp>
      <p:sp>
        <p:nvSpPr>
          <p:cNvPr id="56" name="CuadroTexto 9"/>
          <p:cNvSpPr/>
          <p:nvPr/>
        </p:nvSpPr>
        <p:spPr>
          <a:xfrm>
            <a:off x="3357360" y="2551680"/>
            <a:ext cx="2582280" cy="668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2.  Planteamiento de la hipótesis</a:t>
            </a:r>
            <a:endParaRPr b="0" lang="es-ES" sz="1900" spc="-1" strike="noStrike">
              <a:solidFill>
                <a:srgbClr val="000000"/>
              </a:solidFill>
              <a:latin typeface="Arial"/>
            </a:endParaRPr>
          </a:p>
        </p:txBody>
      </p:sp>
      <p:sp>
        <p:nvSpPr>
          <p:cNvPr id="57" name="CuadroTexto 10"/>
          <p:cNvSpPr/>
          <p:nvPr/>
        </p:nvSpPr>
        <p:spPr>
          <a:xfrm>
            <a:off x="6095880" y="2551680"/>
            <a:ext cx="2582280" cy="3790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3.  Análisis de los datos</a:t>
            </a:r>
            <a:endParaRPr b="0" lang="es-ES" sz="1900" spc="-1" strike="noStrike">
              <a:solidFill>
                <a:srgbClr val="000000"/>
              </a:solidFill>
              <a:latin typeface="Arial"/>
            </a:endParaRPr>
          </a:p>
        </p:txBody>
      </p:sp>
      <p:sp>
        <p:nvSpPr>
          <p:cNvPr id="58" name="CuadroTexto 11"/>
          <p:cNvSpPr/>
          <p:nvPr/>
        </p:nvSpPr>
        <p:spPr>
          <a:xfrm>
            <a:off x="8834400" y="2551680"/>
            <a:ext cx="2582280" cy="3790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4.  Conclusiones</a:t>
            </a:r>
            <a:endParaRPr b="0" lang="es-ES" sz="1900" spc="-1" strike="noStrike">
              <a:solidFill>
                <a:srgbClr val="000000"/>
              </a:solidFill>
              <a:latin typeface="Arial"/>
            </a:endParaRPr>
          </a:p>
        </p:txBody>
      </p:sp>
      <p:pic>
        <p:nvPicPr>
          <p:cNvPr id="59" name="Imagen 20" descr="">
            <a:hlinkClick r:id="rId1" action="ppaction://hlinksldjump"/>
          </p:cNvPr>
          <p:cNvPicPr/>
          <p:nvPr/>
        </p:nvPicPr>
        <p:blipFill>
          <a:blip r:embed="rId2"/>
          <a:stretch/>
        </p:blipFill>
        <p:spPr>
          <a:xfrm>
            <a:off x="897120" y="3415680"/>
            <a:ext cx="2026440" cy="1523520"/>
          </a:xfrm>
          <a:prstGeom prst="rect">
            <a:avLst/>
          </a:prstGeom>
          <a:ln w="0">
            <a:noFill/>
          </a:ln>
        </p:spPr>
      </p:pic>
      <p:pic>
        <p:nvPicPr>
          <p:cNvPr id="60" name="Imagen 22" descr="">
            <a:hlinkClick r:id="rId3" action="ppaction://hlinksldjump"/>
          </p:cNvPr>
          <p:cNvPicPr/>
          <p:nvPr/>
        </p:nvPicPr>
        <p:blipFill>
          <a:blip r:embed="rId4"/>
          <a:stretch/>
        </p:blipFill>
        <p:spPr>
          <a:xfrm>
            <a:off x="3635280" y="3423600"/>
            <a:ext cx="2026440" cy="1523520"/>
          </a:xfrm>
          <a:prstGeom prst="rect">
            <a:avLst/>
          </a:prstGeom>
          <a:ln w="0">
            <a:noFill/>
          </a:ln>
        </p:spPr>
      </p:pic>
      <p:pic>
        <p:nvPicPr>
          <p:cNvPr id="61" name="Imagen 24" descr=""/>
          <p:cNvPicPr/>
          <p:nvPr/>
        </p:nvPicPr>
        <p:blipFill>
          <a:blip r:embed="rId5"/>
          <a:stretch/>
        </p:blipFill>
        <p:spPr>
          <a:xfrm>
            <a:off x="6373800" y="3410280"/>
            <a:ext cx="2026440" cy="1523520"/>
          </a:xfrm>
          <a:prstGeom prst="rect">
            <a:avLst/>
          </a:prstGeom>
          <a:ln w="0">
            <a:noFill/>
          </a:ln>
        </p:spPr>
      </p:pic>
      <p:pic>
        <p:nvPicPr>
          <p:cNvPr id="62" name="Imagen 26" descr="">
            <a:hlinkClick r:id="rId6" action="ppaction://hlinksldjump"/>
          </p:cNvPr>
          <p:cNvPicPr/>
          <p:nvPr/>
        </p:nvPicPr>
        <p:blipFill>
          <a:blip r:embed="rId7"/>
          <a:stretch/>
        </p:blipFill>
        <p:spPr>
          <a:xfrm>
            <a:off x="9112320" y="3429000"/>
            <a:ext cx="2026440" cy="1518120"/>
          </a:xfrm>
          <a:prstGeom prst="rect">
            <a:avLst/>
          </a:prstGeom>
          <a:ln w="0">
            <a:noFill/>
          </a:ln>
        </p:spPr>
      </p:pic>
      <p:pic>
        <p:nvPicPr>
          <p:cNvPr id="63" name="Imagen 28" descr="">
            <a:hlinkClick r:id="rId8" action="ppaction://hlinksldjump"/>
          </p:cNvPr>
          <p:cNvPicPr/>
          <p:nvPr/>
        </p:nvPicPr>
        <p:blipFill>
          <a:blip r:embed="rId9"/>
          <a:stretch/>
        </p:blipFill>
        <p:spPr>
          <a:xfrm>
            <a:off x="6373800" y="3415680"/>
            <a:ext cx="2026440" cy="152352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65"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rgbClr val="582808"/>
                </a:solidFill>
                <a:latin typeface="Calibri Light"/>
              </a:rPr>
              <a:t>1. Definición del problema</a:t>
            </a:r>
            <a:endParaRPr b="0" lang="es-ES" sz="3500" spc="-1" strike="noStrike">
              <a:solidFill>
                <a:srgbClr val="000000"/>
              </a:solidFill>
              <a:latin typeface="Arial"/>
            </a:endParaRPr>
          </a:p>
        </p:txBody>
      </p:sp>
      <p:pic>
        <p:nvPicPr>
          <p:cNvPr id="66" name="Imagen 20" descr=""/>
          <p:cNvPicPr/>
          <p:nvPr/>
        </p:nvPicPr>
        <p:blipFill>
          <a:blip r:embed="rId1"/>
          <a:stretch/>
        </p:blipFill>
        <p:spPr>
          <a:xfrm>
            <a:off x="10757520" y="471240"/>
            <a:ext cx="1065240" cy="801000"/>
          </a:xfrm>
          <a:prstGeom prst="rect">
            <a:avLst/>
          </a:prstGeom>
          <a:ln w="0">
            <a:noFill/>
          </a:ln>
        </p:spPr>
      </p:pic>
      <p:sp>
        <p:nvSpPr>
          <p:cNvPr id="67" name="CuadroTexto 2"/>
          <p:cNvSpPr/>
          <p:nvPr/>
        </p:nvSpPr>
        <p:spPr>
          <a:xfrm>
            <a:off x="622080" y="1984680"/>
            <a:ext cx="10946880" cy="33814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En los últimos años, el crecimiento de plataformas de alquiler turístico – como por ejemplo Airbnb – ha generado un intenso debate sobre su impacto en el mercado inmobiliario de grandes ciudades.</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Madrid no es una excepción y la concentración que aquí se da de viviendas turísticas plantea dudas sobre su relación con el incremento de precio de las viviendas, la reducción de la oferta residencial o la posible desigualdad inmobiliaria que se da entre los distintos distritos y barrios de la ciudad.</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Por ello, hemos querido centrar en estos puntos el análisis para poder objetivar esa relación más allá de las percepciones generales que puedan existir.</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¿Existe realmente una relación entre la presión turística (medida según los datos de Airbnb) y el precio del metro cuadrado de las viviendas de los distintos distritos y barrios de Madrid?</a:t>
            </a:r>
            <a:endParaRPr b="0" lang="es-E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69"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rgbClr val="582808"/>
                </a:solidFill>
                <a:latin typeface="Calibri Light"/>
              </a:rPr>
              <a:t>2. Planteamiento de la hipótesis</a:t>
            </a:r>
            <a:endParaRPr b="0" lang="es-ES" sz="3500" spc="-1" strike="noStrike">
              <a:solidFill>
                <a:srgbClr val="000000"/>
              </a:solidFill>
              <a:latin typeface="Arial"/>
            </a:endParaRPr>
          </a:p>
        </p:txBody>
      </p:sp>
      <p:sp>
        <p:nvSpPr>
          <p:cNvPr id="70" name="CuadroTexto 2"/>
          <p:cNvSpPr/>
          <p:nvPr/>
        </p:nvSpPr>
        <p:spPr>
          <a:xfrm>
            <a:off x="716400" y="1947960"/>
            <a:ext cx="10946880" cy="28328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Nuestra hipótesis es que los barrios en los que existe una mayor densidad de oferta turística tienden a presentar precios más elevados por metro cuadrado, tanto en los casos de venta como en los casos de alquiler convencional.</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Esto lo fundamentamos principalmente en la idea de que el alquiler turístico compite directamente con el alquiler residencial, ya que los propietarios obtienen mayores beneficios con el primero y la oferta de este último disminuye considerablemente.</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Con esto se tensiona adicionalmente el mercado inmobiliario debido a que una parte del parque de vivienda se desplaza del mercado residencial al turístico, haciendo que aumente el precio debido a la escasez, lo que se hace mucho más latente en los barrios donde la presencia de alquileres turísticos es más alta. </a:t>
            </a:r>
            <a:endParaRPr b="0" lang="es-ES" sz="1800" spc="-1" strike="noStrike">
              <a:solidFill>
                <a:srgbClr val="000000"/>
              </a:solidFill>
              <a:latin typeface="Arial"/>
            </a:endParaRPr>
          </a:p>
        </p:txBody>
      </p:sp>
      <p:pic>
        <p:nvPicPr>
          <p:cNvPr id="71" name="Imagen 6" descr=""/>
          <p:cNvPicPr/>
          <p:nvPr/>
        </p:nvPicPr>
        <p:blipFill>
          <a:blip r:embed="rId1"/>
          <a:stretch/>
        </p:blipFill>
        <p:spPr>
          <a:xfrm>
            <a:off x="10348920" y="479520"/>
            <a:ext cx="1314360" cy="98820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73"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chemeClr val="accent2">
                    <a:lumMod val="50000"/>
                  </a:schemeClr>
                </a:solidFill>
                <a:latin typeface="Calibri Light"/>
              </a:rPr>
              <a:t>3. Extracción de los datos</a:t>
            </a:r>
            <a:endParaRPr b="0" lang="es-ES" sz="3500" spc="-1" strike="noStrike">
              <a:solidFill>
                <a:srgbClr val="000000"/>
              </a:solidFill>
              <a:latin typeface="Arial"/>
            </a:endParaRPr>
          </a:p>
        </p:txBody>
      </p:sp>
      <p:sp>
        <p:nvSpPr>
          <p:cNvPr id="74" name="CuadroTexto 2"/>
          <p:cNvSpPr/>
          <p:nvPr/>
        </p:nvSpPr>
        <p:spPr>
          <a:xfrm>
            <a:off x="716400" y="1760760"/>
            <a:ext cx="10946880" cy="42044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Como primer paso para comenzar a tratar el problema planteado, trabajamos en la obtención de datos obtenidos de fuentes referencia en el sector inmobiliario, como son Airbnb e Idealista.</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De esta última obtuvimos acceso a su API e intentamos obtener la información del precio de la vivienda haciendo uso de ella, pero nos topamos con una restricción en su API que no permitía realizar una llamada con respuesta satisfactoria.</a:t>
            </a: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A través de Postman, que es una herramienta que facilita a configuración y ejecución de llamadas a APIs, pudimos realizar alguna llamada exitosa, pero la limitación de resultados por llamada y el no poder automatizar estas llamadas desde el notebook, hizo inviable la recopilación de datos a través de esta vía.</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Por lo que decidimos centrarnos en los datos de Airbnb y en la información sobre el precio del metro cuadrado que si se recoge en el portal de idealista (tanto para venta como para alquiler), y es obtenible desde su portal web.</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p:txBody>
      </p:sp>
      <p:pic>
        <p:nvPicPr>
          <p:cNvPr id="75" name="Imagen 6" descr=""/>
          <p:cNvPicPr/>
          <p:nvPr/>
        </p:nvPicPr>
        <p:blipFill>
          <a:blip r:embed="rId1"/>
          <a:stretch/>
        </p:blipFill>
        <p:spPr>
          <a:xfrm>
            <a:off x="10598040" y="479520"/>
            <a:ext cx="1065240" cy="80100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Rectángulo 1"/>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s-ES" sz="1800" spc="-1" strike="noStrike">
              <a:solidFill>
                <a:schemeClr val="lt1"/>
              </a:solidFill>
              <a:latin typeface="Calibri"/>
            </a:endParaRPr>
          </a:p>
        </p:txBody>
      </p:sp>
      <p:sp>
        <p:nvSpPr>
          <p:cNvPr id="77" name="CuadroTexto 4"/>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chemeClr val="accent2">
                    <a:lumMod val="50000"/>
                  </a:schemeClr>
                </a:solidFill>
                <a:latin typeface="Calibri Light"/>
              </a:rPr>
              <a:t>4. Tratamiento de los datos</a:t>
            </a:r>
            <a:endParaRPr b="0" lang="es-ES" sz="3500" spc="-1" strike="noStrike">
              <a:solidFill>
                <a:srgbClr val="000000"/>
              </a:solidFill>
              <a:latin typeface="Arial"/>
            </a:endParaRPr>
          </a:p>
        </p:txBody>
      </p:sp>
      <p:sp>
        <p:nvSpPr>
          <p:cNvPr id="78" name="CuadroTexto 5"/>
          <p:cNvSpPr/>
          <p:nvPr/>
        </p:nvSpPr>
        <p:spPr>
          <a:xfrm>
            <a:off x="716400" y="1760760"/>
            <a:ext cx="10946880" cy="4753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Una vez recopilada la información y cargada en distintos DataFrames, comenzamos con el análisis y tratamiento de los datos.</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En primer lugar, identificamos las columnas relevantes para nuestro estudio y nos quedamos con ellas, descartando todas aquellas irrelevantes para nuestro análisis.</a:t>
            </a: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Una vez aplicado este filtro a los datasets con las columnas que queremos, agrupamos los distintos DataFrames en uno sólo, ya que la información la obtuvimos por trimestres.</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El siguiente paso es analizar los valores nulos que podían presentar los datos, por suerte estos sólo estaban presentes en 3 columnas, de las cuáles dos eran poco o nada influyentes para nuestro análisis, por lo que pudimos sustituir los valores nulos por medidas de tendencia como la mediana o la moda según el caso.</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La tercera columna con valores nulos era la relativa al precio, muy relevante para nuestro análisis, así que gestionamos con más detalle el tratamiento de sus nulos y aplicamos a los valores nulos las medias de los precios de cada barrio en el que se encontrasen, para que el nuevo valor tuviese mayor coherencia.</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p:txBody>
      </p:sp>
      <p:pic>
        <p:nvPicPr>
          <p:cNvPr id="79" name="Imagen 2" descr=""/>
          <p:cNvPicPr/>
          <p:nvPr/>
        </p:nvPicPr>
        <p:blipFill>
          <a:blip r:embed="rId1"/>
          <a:stretch/>
        </p:blipFill>
        <p:spPr>
          <a:xfrm>
            <a:off x="10598040" y="479520"/>
            <a:ext cx="1065240" cy="80100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81"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chemeClr val="accent2">
                    <a:lumMod val="50000"/>
                  </a:schemeClr>
                </a:solidFill>
                <a:latin typeface="Calibri Light"/>
              </a:rPr>
              <a:t>5. Análisis de los datos</a:t>
            </a:r>
            <a:endParaRPr b="0" lang="es-ES" sz="3500" spc="-1" strike="noStrike">
              <a:solidFill>
                <a:srgbClr val="000000"/>
              </a:solidFill>
              <a:latin typeface="Arial"/>
            </a:endParaRPr>
          </a:p>
        </p:txBody>
      </p:sp>
      <p:sp>
        <p:nvSpPr>
          <p:cNvPr id="82" name="CuadroTexto 2"/>
          <p:cNvSpPr/>
          <p:nvPr/>
        </p:nvSpPr>
        <p:spPr>
          <a:xfrm>
            <a:off x="527760" y="5424840"/>
            <a:ext cx="11135520" cy="912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En estas gráficas podemos observar que el número de anuncios que aparecer en Airbnb para Madrid se concentran principalmente en los distritos Centro, Salamanca y Tetuán, mientras que los distritos de Barajas, Villa de Vallecas o Vicálvaro apenas tienen presencia en la plataforma.</a:t>
            </a:r>
            <a:endParaRPr b="0" lang="es-ES" sz="1800" spc="-1" strike="noStrike">
              <a:solidFill>
                <a:srgbClr val="000000"/>
              </a:solidFill>
              <a:latin typeface="Arial"/>
            </a:endParaRPr>
          </a:p>
        </p:txBody>
      </p:sp>
      <p:pic>
        <p:nvPicPr>
          <p:cNvPr id="83" name="Imagen 6" descr=""/>
          <p:cNvPicPr/>
          <p:nvPr/>
        </p:nvPicPr>
        <p:blipFill>
          <a:blip r:embed="rId1"/>
          <a:stretch/>
        </p:blipFill>
        <p:spPr>
          <a:xfrm>
            <a:off x="10598040" y="479520"/>
            <a:ext cx="1065240" cy="801000"/>
          </a:xfrm>
          <a:prstGeom prst="rect">
            <a:avLst/>
          </a:prstGeom>
          <a:ln w="0">
            <a:noFill/>
          </a:ln>
        </p:spPr>
      </p:pic>
      <p:pic>
        <p:nvPicPr>
          <p:cNvPr id="84" name="Imagen 8" descr=""/>
          <p:cNvPicPr/>
          <p:nvPr/>
        </p:nvPicPr>
        <p:blipFill>
          <a:blip r:embed="rId2"/>
          <a:stretch/>
        </p:blipFill>
        <p:spPr>
          <a:xfrm>
            <a:off x="527760" y="1380960"/>
            <a:ext cx="5287680" cy="3772800"/>
          </a:xfrm>
          <a:prstGeom prst="rect">
            <a:avLst/>
          </a:prstGeom>
          <a:ln w="0">
            <a:noFill/>
          </a:ln>
        </p:spPr>
      </p:pic>
      <p:pic>
        <p:nvPicPr>
          <p:cNvPr id="85" name="Imagen 14" descr=""/>
          <p:cNvPicPr/>
          <p:nvPr/>
        </p:nvPicPr>
        <p:blipFill>
          <a:blip r:embed="rId3"/>
          <a:stretch/>
        </p:blipFill>
        <p:spPr>
          <a:xfrm>
            <a:off x="6375600" y="1380960"/>
            <a:ext cx="5287680" cy="377280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87"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chemeClr val="accent2">
                    <a:lumMod val="50000"/>
                  </a:schemeClr>
                </a:solidFill>
                <a:latin typeface="Calibri Light"/>
              </a:rPr>
              <a:t>5. Análisis de los datos</a:t>
            </a:r>
            <a:endParaRPr b="0" lang="es-ES" sz="3500" spc="-1" strike="noStrike">
              <a:solidFill>
                <a:srgbClr val="000000"/>
              </a:solidFill>
              <a:latin typeface="Arial"/>
            </a:endParaRPr>
          </a:p>
        </p:txBody>
      </p:sp>
      <p:sp>
        <p:nvSpPr>
          <p:cNvPr id="88" name="CuadroTexto 2"/>
          <p:cNvSpPr/>
          <p:nvPr/>
        </p:nvSpPr>
        <p:spPr>
          <a:xfrm>
            <a:off x="527760" y="5424840"/>
            <a:ext cx="1113552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Como indicábamos al inicio, el número de anuncios está directamente relacionado con el precio del metro cuadrado para venta y alquiler que tienen las viviendas de los barrios y distritos más tensionados.</a:t>
            </a:r>
            <a:endParaRPr b="0" lang="es-ES" sz="1800" spc="-1" strike="noStrike">
              <a:solidFill>
                <a:srgbClr val="000000"/>
              </a:solidFill>
              <a:latin typeface="Arial"/>
            </a:endParaRPr>
          </a:p>
        </p:txBody>
      </p:sp>
      <p:pic>
        <p:nvPicPr>
          <p:cNvPr id="89" name="Imagen 6" descr=""/>
          <p:cNvPicPr/>
          <p:nvPr/>
        </p:nvPicPr>
        <p:blipFill>
          <a:blip r:embed="rId1"/>
          <a:stretch/>
        </p:blipFill>
        <p:spPr>
          <a:xfrm>
            <a:off x="10598040" y="479520"/>
            <a:ext cx="1065240" cy="801000"/>
          </a:xfrm>
          <a:prstGeom prst="rect">
            <a:avLst/>
          </a:prstGeom>
          <a:ln w="0">
            <a:noFill/>
          </a:ln>
        </p:spPr>
      </p:pic>
      <p:pic>
        <p:nvPicPr>
          <p:cNvPr id="90" name="Imagen 9" descr=""/>
          <p:cNvPicPr/>
          <p:nvPr/>
        </p:nvPicPr>
        <p:blipFill>
          <a:blip r:embed="rId2"/>
          <a:stretch/>
        </p:blipFill>
        <p:spPr>
          <a:xfrm>
            <a:off x="452160" y="1380960"/>
            <a:ext cx="5287680" cy="3772800"/>
          </a:xfrm>
          <a:prstGeom prst="rect">
            <a:avLst/>
          </a:prstGeom>
          <a:ln w="0">
            <a:noFill/>
          </a:ln>
        </p:spPr>
      </p:pic>
      <p:pic>
        <p:nvPicPr>
          <p:cNvPr id="91" name="Imagen 11" descr=""/>
          <p:cNvPicPr/>
          <p:nvPr/>
        </p:nvPicPr>
        <p:blipFill>
          <a:blip r:embed="rId3"/>
          <a:stretch/>
        </p:blipFill>
        <p:spPr>
          <a:xfrm>
            <a:off x="6375600" y="1380960"/>
            <a:ext cx="5287680" cy="377280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93"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chemeClr val="accent2">
                    <a:lumMod val="50000"/>
                  </a:schemeClr>
                </a:solidFill>
                <a:latin typeface="Calibri Light"/>
              </a:rPr>
              <a:t>5. Análisis de los datos</a:t>
            </a:r>
            <a:endParaRPr b="0" lang="es-ES" sz="3500" spc="-1" strike="noStrike">
              <a:solidFill>
                <a:srgbClr val="000000"/>
              </a:solidFill>
              <a:latin typeface="Arial"/>
            </a:endParaRPr>
          </a:p>
        </p:txBody>
      </p:sp>
      <p:sp>
        <p:nvSpPr>
          <p:cNvPr id="94" name="CuadroTexto 2"/>
          <p:cNvSpPr/>
          <p:nvPr/>
        </p:nvSpPr>
        <p:spPr>
          <a:xfrm>
            <a:off x="527760" y="5424840"/>
            <a:ext cx="11135520" cy="912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Así mismo hemos analizado la distribución que se da según el tipo de alojamiento y dónde se concentran más en el mapa de Madrid, observando una gran concentración y las zonas centrales y donde prevalece el alquiler de viviendas completas por encima del de habitaciones privadas o compartidas.</a:t>
            </a:r>
            <a:endParaRPr b="0" lang="es-ES" sz="1800" spc="-1" strike="noStrike">
              <a:solidFill>
                <a:srgbClr val="000000"/>
              </a:solidFill>
              <a:latin typeface="Arial"/>
            </a:endParaRPr>
          </a:p>
        </p:txBody>
      </p:sp>
      <p:pic>
        <p:nvPicPr>
          <p:cNvPr id="95" name="Imagen 6" descr=""/>
          <p:cNvPicPr/>
          <p:nvPr/>
        </p:nvPicPr>
        <p:blipFill>
          <a:blip r:embed="rId1"/>
          <a:stretch/>
        </p:blipFill>
        <p:spPr>
          <a:xfrm>
            <a:off x="10598040" y="479520"/>
            <a:ext cx="1065240" cy="801000"/>
          </a:xfrm>
          <a:prstGeom prst="rect">
            <a:avLst/>
          </a:prstGeom>
          <a:ln w="0">
            <a:noFill/>
          </a:ln>
        </p:spPr>
      </p:pic>
      <p:pic>
        <p:nvPicPr>
          <p:cNvPr id="96" name="Imagen 3" descr=""/>
          <p:cNvPicPr/>
          <p:nvPr/>
        </p:nvPicPr>
        <p:blipFill>
          <a:blip r:embed="rId2"/>
          <a:stretch/>
        </p:blipFill>
        <p:spPr>
          <a:xfrm>
            <a:off x="527760" y="1380960"/>
            <a:ext cx="5287680" cy="3772800"/>
          </a:xfrm>
          <a:prstGeom prst="rect">
            <a:avLst/>
          </a:prstGeom>
          <a:ln w="0">
            <a:noFill/>
          </a:ln>
        </p:spPr>
      </p:pic>
      <p:pic>
        <p:nvPicPr>
          <p:cNvPr id="97" name="Imagen 8" descr=""/>
          <p:cNvPicPr/>
          <p:nvPr/>
        </p:nvPicPr>
        <p:blipFill>
          <a:blip r:embed="rId3"/>
          <a:stretch/>
        </p:blipFill>
        <p:spPr>
          <a:xfrm>
            <a:off x="6375600" y="1380960"/>
            <a:ext cx="5287680" cy="377280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99"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chemeClr val="accent2">
                    <a:lumMod val="50000"/>
                  </a:schemeClr>
                </a:solidFill>
                <a:latin typeface="Calibri Light"/>
              </a:rPr>
              <a:t>5. Análisis de los datos</a:t>
            </a:r>
            <a:endParaRPr b="0" lang="es-ES" sz="3500" spc="-1" strike="noStrike">
              <a:solidFill>
                <a:srgbClr val="000000"/>
              </a:solidFill>
              <a:latin typeface="Arial"/>
            </a:endParaRPr>
          </a:p>
        </p:txBody>
      </p:sp>
      <p:sp>
        <p:nvSpPr>
          <p:cNvPr id="100" name="CuadroTexto 2"/>
          <p:cNvSpPr/>
          <p:nvPr/>
        </p:nvSpPr>
        <p:spPr>
          <a:xfrm>
            <a:off x="7777080" y="2413440"/>
            <a:ext cx="3886200" cy="200988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1" lang="es-ES" sz="1800" spc="-1" strike="noStrike">
                <a:solidFill>
                  <a:srgbClr val="582808"/>
                </a:solidFill>
                <a:latin typeface="Calibri"/>
              </a:rPr>
              <a:t>La tabla por distrito muestra una concentración muy marcada de anuncios en Centro, que acumula aproximadamente 4 de cada 10 anuncios del Dataset (≈40% del total) y una proporción similar de anuncios activos (≈41%).</a:t>
            </a:r>
            <a:endParaRPr b="0" lang="es-ES" sz="1800" spc="-1" strike="noStrike">
              <a:solidFill>
                <a:srgbClr val="000000"/>
              </a:solidFill>
              <a:latin typeface="Arial"/>
            </a:endParaRPr>
          </a:p>
        </p:txBody>
      </p:sp>
      <p:pic>
        <p:nvPicPr>
          <p:cNvPr id="101" name="Imagen 6" descr=""/>
          <p:cNvPicPr/>
          <p:nvPr/>
        </p:nvPicPr>
        <p:blipFill>
          <a:blip r:embed="rId1"/>
          <a:stretch/>
        </p:blipFill>
        <p:spPr>
          <a:xfrm>
            <a:off x="10598040" y="479520"/>
            <a:ext cx="1065240" cy="801000"/>
          </a:xfrm>
          <a:prstGeom prst="rect">
            <a:avLst/>
          </a:prstGeom>
          <a:ln w="0">
            <a:noFill/>
          </a:ln>
        </p:spPr>
      </p:pic>
      <p:graphicFrame>
        <p:nvGraphicFramePr>
          <p:cNvPr id="102" name="Tabla 52"/>
          <p:cNvGraphicFramePr/>
          <p:nvPr/>
        </p:nvGraphicFramePr>
        <p:xfrm>
          <a:off x="574920" y="1291320"/>
          <a:ext cx="6390000" cy="5094360"/>
        </p:xfrm>
        <a:graphic>
          <a:graphicData uri="http://schemas.openxmlformats.org/drawingml/2006/table">
            <a:tbl>
              <a:tblPr/>
              <a:tblGrid>
                <a:gridCol w="1493640"/>
                <a:gridCol w="1315080"/>
                <a:gridCol w="1168920"/>
                <a:gridCol w="1134720"/>
                <a:gridCol w="1278000"/>
              </a:tblGrid>
              <a:tr h="304560">
                <a:tc>
                  <a:txBody>
                    <a:bodyPr anchor="t">
                      <a:noAutofit/>
                    </a:bodyPr>
                    <a:p>
                      <a:pPr algn="ctr" defTabSz="914400">
                        <a:lnSpc>
                          <a:spcPct val="100000"/>
                        </a:lnSpc>
                      </a:pPr>
                      <a:r>
                        <a:rPr b="1" lang="es-ES" sz="1300" spc="-1" strike="noStrike">
                          <a:solidFill>
                            <a:srgbClr val="582808"/>
                          </a:solidFill>
                          <a:latin typeface="Calibri"/>
                        </a:rPr>
                        <a:t>Distrito</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algn="ctr" defTabSz="914400">
                        <a:lnSpc>
                          <a:spcPct val="100000"/>
                        </a:lnSpc>
                      </a:pPr>
                      <a:r>
                        <a:rPr b="1" lang="es-ES" sz="1300" spc="-1" strike="noStrike">
                          <a:solidFill>
                            <a:srgbClr val="582808"/>
                          </a:solidFill>
                          <a:latin typeface="Calibri"/>
                        </a:rPr>
                        <a:t>Nº de anuncios</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algn="ctr" defTabSz="914400">
                        <a:lnSpc>
                          <a:spcPct val="100000"/>
                        </a:lnSpc>
                      </a:pPr>
                      <a:r>
                        <a:rPr b="1" lang="es-ES" sz="1300" spc="-1" strike="noStrike">
                          <a:solidFill>
                            <a:srgbClr val="582808"/>
                          </a:solidFill>
                          <a:latin typeface="Calibri"/>
                        </a:rPr>
                        <a:t>Activos</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algn="ctr" defTabSz="914400">
                        <a:lnSpc>
                          <a:spcPct val="100000"/>
                        </a:lnSpc>
                      </a:pPr>
                      <a:r>
                        <a:rPr b="1" lang="es-ES" sz="1300" spc="-1" strike="noStrike">
                          <a:solidFill>
                            <a:srgbClr val="582808"/>
                          </a:solidFill>
                          <a:latin typeface="Calibri"/>
                        </a:rPr>
                        <a:t>% Anuncios</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algn="ctr" defTabSz="914400">
                        <a:lnSpc>
                          <a:spcPct val="100000"/>
                        </a:lnSpc>
                      </a:pPr>
                      <a:r>
                        <a:rPr b="1" lang="es-ES" sz="1300" spc="-1" strike="noStrike">
                          <a:solidFill>
                            <a:srgbClr val="582808"/>
                          </a:solidFill>
                          <a:latin typeface="Calibri"/>
                        </a:rPr>
                        <a:t>% Activos</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Centro</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12718</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10436</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40.722359</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41.576033</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Salamanca</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2065</a:t>
                      </a:r>
                      <a:r>
                        <a:rPr b="0" lang="es-ES" sz="1300" spc="-1" strike="noStrike">
                          <a:solidFill>
                            <a:srgbClr val="582808"/>
                          </a:solidFill>
                          <a:latin typeface="Calibri"/>
                        </a:rPr>
                        <a:t>	</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1655</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6.612020</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6.593363</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Tetuán</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2051</a:t>
                      </a:r>
                      <a:r>
                        <a:rPr b="0" lang="es-ES" sz="1300" spc="-1" strike="noStrike">
                          <a:solidFill>
                            <a:srgbClr val="582808"/>
                          </a:solidFill>
                          <a:latin typeface="Calibri"/>
                        </a:rPr>
                        <a:t>	</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1728</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6.567193</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6.884188</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Chamberí</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2022</a:t>
                      </a:r>
                      <a:r>
                        <a:rPr b="0" lang="es-ES" sz="1300" spc="-1" strike="noStrike">
                          <a:solidFill>
                            <a:srgbClr val="582808"/>
                          </a:solidFill>
                          <a:latin typeface="Calibri"/>
                        </a:rPr>
                        <a:t>	</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1609</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6.474336</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6.410103</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Arganzuela</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1626</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1247</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5.206365</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nchor="t">
                      <a:noAutofit/>
                    </a:bodyPr>
                    <a:p>
                      <a:pPr defTabSz="914400">
                        <a:lnSpc>
                          <a:spcPct val="100000"/>
                        </a:lnSpc>
                      </a:pPr>
                      <a:r>
                        <a:rPr b="0" lang="es-ES" sz="1300" spc="-1" strike="noStrike">
                          <a:solidFill>
                            <a:srgbClr val="582808"/>
                          </a:solidFill>
                          <a:latin typeface="Calibri"/>
                        </a:rPr>
                        <a:t>4.967930</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Carabanchel</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1169</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953</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3.743076</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3.796661</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Retiro</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1151</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914</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3.685441</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3.641289</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Chamartín</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1085</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848</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3.474112</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3.378351</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Ciudad Lineal</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1062</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832</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3.400467</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3.314609</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Puente de Vallecas</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998</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777</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3.195543</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3.095494</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Moncloa</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907</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683</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2.904166</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2.721007</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Latina</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873</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672</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2.795300</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2.677184</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Canillejas</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713</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512</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2.282988</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2.039759</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Usera</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678</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567</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2.170920</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2.258874</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r h="319320">
                <a:tc>
                  <a:txBody>
                    <a:bodyPr anchor="t">
                      <a:noAutofit/>
                    </a:bodyPr>
                    <a:p>
                      <a:pPr defTabSz="914400">
                        <a:lnSpc>
                          <a:spcPct val="100000"/>
                        </a:lnSpc>
                      </a:pPr>
                      <a:r>
                        <a:rPr b="0" lang="es-ES" sz="1300" spc="-1" strike="noStrike">
                          <a:solidFill>
                            <a:srgbClr val="582808"/>
                          </a:solidFill>
                          <a:latin typeface="Calibri"/>
                        </a:rPr>
                        <a:t>Hortaleza</a:t>
                      </a:r>
                      <a:endParaRPr b="0" lang="es-ES" sz="1300" spc="-1" strike="noStrike">
                        <a:solidFill>
                          <a:srgbClr val="000000"/>
                        </a:solidFill>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663</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566</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2.122891</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lIns="75960" rIns="75960" anchor="ctr">
                      <a:noAutofit/>
                    </a:bodyPr>
                    <a:p>
                      <a:pPr defTabSz="914400">
                        <a:lnSpc>
                          <a:spcPct val="100000"/>
                        </a:lnSpc>
                      </a:pPr>
                      <a:r>
                        <a:rPr b="0" lang="es-ES" sz="1300" spc="-1" strike="noStrike">
                          <a:solidFill>
                            <a:srgbClr val="582808"/>
                          </a:solidFill>
                          <a:latin typeface="Calibri"/>
                        </a:rPr>
                        <a:t>2.254890</a:t>
                      </a:r>
                      <a:endParaRPr b="0" lang="es-ES" sz="1300" spc="-1" strike="noStrike">
                        <a:solidFill>
                          <a:srgbClr val="000000"/>
                        </a:solidFill>
                        <a:latin typeface="Arial"/>
                      </a:endParaRPr>
                    </a:p>
                  </a:txBody>
                  <a:tcPr anchor="ctr" marL="75960" marR="759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r>
            </a:tbl>
          </a:graphicData>
        </a:graphic>
      </p:graphicFrame>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104" name="CuadroTexto 7"/>
          <p:cNvSpPr/>
          <p:nvPr/>
        </p:nvSpPr>
        <p:spPr>
          <a:xfrm>
            <a:off x="527760" y="479520"/>
            <a:ext cx="1113552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chemeClr val="accent2">
                    <a:lumMod val="50000"/>
                  </a:schemeClr>
                </a:solidFill>
                <a:latin typeface="Calibri Light"/>
              </a:rPr>
              <a:t>6. Conclusiones</a:t>
            </a:r>
            <a:endParaRPr b="0" lang="es-ES" sz="3500" spc="-1" strike="noStrike">
              <a:solidFill>
                <a:srgbClr val="000000"/>
              </a:solidFill>
              <a:latin typeface="Arial"/>
            </a:endParaRPr>
          </a:p>
        </p:txBody>
      </p:sp>
      <p:pic>
        <p:nvPicPr>
          <p:cNvPr id="105" name="Imagen 6" descr=""/>
          <p:cNvPicPr/>
          <p:nvPr/>
        </p:nvPicPr>
        <p:blipFill>
          <a:blip r:embed="rId1"/>
          <a:stretch/>
        </p:blipFill>
        <p:spPr>
          <a:xfrm>
            <a:off x="10598040" y="479520"/>
            <a:ext cx="1065240" cy="79812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172</TotalTime>
  <Application>LibreOffice/24.2.5.2$Windows_X86_64 LibreOffice_project/bffef4ea93e59bebbeaf7f431bb02b1a39ee8a59</Application>
  <AppVersion>15.0000</AppVersion>
  <Words>720</Words>
  <Paragraphs>126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2026-01-04T18:35:09Z</dcterms:created>
  <dc:creator>Sara Ruiz Iniesta</dc:creator>
  <dc:description/>
  <dc:language>es-ES</dc:language>
  <cp:lastModifiedBy/>
  <dcterms:modified xsi:type="dcterms:W3CDTF">2026-01-08T20:32:04Z</dcterms:modified>
  <cp:revision>15</cp:revision>
  <dc:subject/>
  <dc:title>Presentación de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Panorámica</vt:lpwstr>
  </property>
  <property fmtid="{D5CDD505-2E9C-101B-9397-08002B2CF9AE}" pid="3" name="Slides">
    <vt:i4>10</vt:i4>
  </property>
</Properties>
</file>