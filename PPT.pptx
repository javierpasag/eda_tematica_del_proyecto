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Lst>
  <p:notesMasterIdLst>
    <p:notesMasterId r:id="rId24"/>
  </p:notesMasterIdLst>
  <p:sldIdLst>
    <p:sldId id="256" r:id="rId12"/>
    <p:sldId id="257" r:id="rId13"/>
    <p:sldId id="258" r:id="rId14"/>
    <p:sldId id="259" r:id="rId15"/>
    <p:sldId id="260" r:id="rId16"/>
    <p:sldId id="261" r:id="rId17"/>
    <p:sldId id="262" r:id="rId18"/>
    <p:sldId id="263" r:id="rId19"/>
    <p:sldId id="264" r:id="rId20"/>
    <p:sldId id="267" r:id="rId21"/>
    <p:sldId id="265" r:id="rId22"/>
    <p:sldId id="266" r:id="rId23"/>
  </p:sldIdLst>
  <p:sldSz cx="12192000" cy="6858000"/>
  <p:notesSz cx="7559675" cy="10691813"/>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28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238" autoAdjust="0"/>
  </p:normalViewPr>
  <p:slideViewPr>
    <p:cSldViewPr snapToGrid="0">
      <p:cViewPr varScale="1">
        <p:scale>
          <a:sx n="70" d="100"/>
          <a:sy n="70" d="100"/>
        </p:scale>
        <p:origin x="113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0.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96E2F18F-91F8-4199-A003-5C4169FE7177}" type="datetimeFigureOut">
              <a:rPr lang="es-ES" smtClean="0"/>
              <a:t>09/01/2026</a:t>
            </a:fld>
            <a:endParaRPr lang="es-ES"/>
          </a:p>
        </p:txBody>
      </p:sp>
      <p:sp>
        <p:nvSpPr>
          <p:cNvPr id="4" name="Marcador de imagen de diapositiva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F9D43393-09C1-415A-8C48-FC3CFFE955BD}" type="slidenum">
              <a:rPr lang="es-ES" smtClean="0"/>
              <a:t>‹Nº›</a:t>
            </a:fld>
            <a:endParaRPr lang="es-ES"/>
          </a:p>
        </p:txBody>
      </p:sp>
    </p:spTree>
    <p:extLst>
      <p:ext uri="{BB962C8B-B14F-4D97-AF65-F5344CB8AC3E}">
        <p14:creationId xmlns:p14="http://schemas.microsoft.com/office/powerpoint/2010/main" val="2534367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Después de realizar la limpieza de los datos, empezamos a trabajar con distintas extracciones de la información de la que disponíamos para llegar a los datos que aportaban valor a la resolución de nuestra hipótesis. En primer lugar, analizamos el número de anuncios que se registraron durante el periodo estudiado en Airbnb dividido por distritos. Por otro lado, extrajimos la información sobre los 15 barrios con más anuncios registrados en Airbnb y el distrito al que pertenecen. Con esto podemos observar que el número de anuncios que aparecen en Airbnb en la ciudad de Madrid se concentran principalmente en los distritos Centro, Salamanca y </a:t>
            </a:r>
            <a:r>
              <a:rPr lang="es-ES" dirty="0" err="1"/>
              <a:t>Tetúan</a:t>
            </a:r>
            <a:r>
              <a:rPr lang="es-ES" dirty="0"/>
              <a:t>, mientras que en </a:t>
            </a:r>
            <a:r>
              <a:rPr lang="es-ES" dirty="0" err="1"/>
              <a:t>Barajass</a:t>
            </a:r>
            <a:r>
              <a:rPr lang="es-ES" dirty="0"/>
              <a:t>, Villa de Vallecas o Vicálvaro apenas tienen presencia.</a:t>
            </a:r>
          </a:p>
        </p:txBody>
      </p:sp>
      <p:sp>
        <p:nvSpPr>
          <p:cNvPr id="4" name="Marcador de número de diapositiva 3"/>
          <p:cNvSpPr>
            <a:spLocks noGrp="1"/>
          </p:cNvSpPr>
          <p:nvPr>
            <p:ph type="sldNum" sz="quarter" idx="5"/>
          </p:nvPr>
        </p:nvSpPr>
        <p:spPr/>
        <p:txBody>
          <a:bodyPr/>
          <a:lstStyle/>
          <a:p>
            <a:fld id="{F9D43393-09C1-415A-8C48-FC3CFFE955BD}" type="slidenum">
              <a:rPr lang="es-ES" smtClean="0"/>
              <a:t>7</a:t>
            </a:fld>
            <a:endParaRPr lang="es-ES"/>
          </a:p>
        </p:txBody>
      </p:sp>
    </p:spTree>
    <p:extLst>
      <p:ext uri="{BB962C8B-B14F-4D97-AF65-F5344CB8AC3E}">
        <p14:creationId xmlns:p14="http://schemas.microsoft.com/office/powerpoint/2010/main" val="42433074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Por otro lado, en relación con los datos que pudimos extraer del portal de Idealista, obtuvimos dos gráficos que representasen el precio medio tanto de alquiler como de venta por distrito. Con esto, y respaldando lo que ya veníamos observado, se establece que el precio medio en ambas casuísticas es superior en aquellos distritos más tensionados por los alquileres turísticos.</a:t>
            </a:r>
          </a:p>
        </p:txBody>
      </p:sp>
      <p:sp>
        <p:nvSpPr>
          <p:cNvPr id="4" name="Marcador de número de diapositiva 3"/>
          <p:cNvSpPr>
            <a:spLocks noGrp="1"/>
          </p:cNvSpPr>
          <p:nvPr>
            <p:ph type="sldNum" sz="quarter" idx="5"/>
          </p:nvPr>
        </p:nvSpPr>
        <p:spPr/>
        <p:txBody>
          <a:bodyPr/>
          <a:lstStyle/>
          <a:p>
            <a:fld id="{F9D43393-09C1-415A-8C48-FC3CFFE955BD}" type="slidenum">
              <a:rPr lang="es-ES" smtClean="0"/>
              <a:t>8</a:t>
            </a:fld>
            <a:endParaRPr lang="es-ES"/>
          </a:p>
        </p:txBody>
      </p:sp>
    </p:spTree>
    <p:extLst>
      <p:ext uri="{BB962C8B-B14F-4D97-AF65-F5344CB8AC3E}">
        <p14:creationId xmlns:p14="http://schemas.microsoft.com/office/powerpoint/2010/main" val="706943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lgn="ctr">
              <a:buNone/>
            </a:pPr>
            <a:endParaRPr lang="es-ES" sz="4400" b="0" strike="noStrike" spc="-1">
              <a:solidFill>
                <a:srgbClr val="000000"/>
              </a:solidFill>
              <a:latin typeface="Arial"/>
            </a:endParaRPr>
          </a:p>
        </p:txBody>
      </p:sp>
      <p:sp>
        <p:nvSpPr>
          <p:cNvPr id="6" name="PlaceHolder 2"/>
          <p:cNvSpPr>
            <a:spLocks noGrp="1"/>
          </p:cNvSpPr>
          <p:nvPr>
            <p:ph type="subTitle"/>
          </p:nvPr>
        </p:nvSpPr>
        <p:spPr>
          <a:xfrm>
            <a:off x="838080" y="1825560"/>
            <a:ext cx="10514880" cy="4350600"/>
          </a:xfrm>
          <a:prstGeom prst="rect">
            <a:avLst/>
          </a:prstGeom>
          <a:noFill/>
          <a:ln w="0">
            <a:noFill/>
          </a:ln>
        </p:spPr>
        <p:txBody>
          <a:bodyPr lIns="0" tIns="0" rIns="0" bIns="0" anchor="ctr">
            <a:noAutofit/>
          </a:bodyPr>
          <a:lstStyle/>
          <a:p>
            <a:pPr indent="0" algn="ctr">
              <a:buNone/>
            </a:pPr>
            <a:endParaRPr lang="es-ES"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E71CAD33-F051-45BB-AE3F-5E3F59894D05}" type="slidenum">
              <a:t>‹Nº›</a:t>
            </a:fld>
            <a:endParaRPr/>
          </a:p>
        </p:txBody>
      </p:sp>
      <p:sp>
        <p:nvSpPr>
          <p:cNvPr id="3" name="PlaceHolder 5"/>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535B2AA0-BB1C-4181-986A-B1E5F0C3C06A}" type="slidenum">
              <a:t>‹Nº›</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E94AF2B2-9FFB-49BA-8383-6F52369B5D0B}" type="slidenum">
              <a:t>‹Nº›</a:t>
            </a:fld>
            <a:endParaRPr/>
          </a:p>
        </p:txBody>
      </p:sp>
      <p:sp>
        <p:nvSpPr>
          <p:cNvPr id="4" name="PlaceHolder 3"/>
          <p:cNvSpPr>
            <a:spLocks noGrp="1"/>
          </p:cNvSpPr>
          <p:nvPr>
            <p:ph type="dt" idx="9"/>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lgn="ctr">
              <a:buNone/>
            </a:pPr>
            <a:endParaRPr lang="es-ES" sz="4400" b="0" strike="noStrike" spc="-1">
              <a:solidFill>
                <a:srgbClr val="000000"/>
              </a:solidFill>
              <a:latin typeface="Arial"/>
            </a:endParaRPr>
          </a:p>
        </p:txBody>
      </p:sp>
      <p:sp>
        <p:nvSpPr>
          <p:cNvPr id="19" name="PlaceHolder 2"/>
          <p:cNvSpPr>
            <a:spLocks noGrp="1"/>
          </p:cNvSpPr>
          <p:nvPr>
            <p:ph/>
          </p:nvPr>
        </p:nvSpPr>
        <p:spPr>
          <a:xfrm>
            <a:off x="838080" y="1825560"/>
            <a:ext cx="10514880" cy="4350600"/>
          </a:xfrm>
          <a:prstGeom prst="rect">
            <a:avLst/>
          </a:prstGeom>
          <a:noFill/>
          <a:ln w="0">
            <a:noFill/>
          </a:ln>
        </p:spPr>
        <p:txBody>
          <a:bodyPr lIns="0" tIns="0" rIns="0" bIns="0" anchor="t">
            <a:normAutofit/>
          </a:bodyPr>
          <a:lstStyle/>
          <a:p>
            <a:pPr indent="0">
              <a:spcBef>
                <a:spcPts val="1417"/>
              </a:spcBef>
              <a:buNone/>
            </a:pPr>
            <a:endParaRPr lang="es-ES" sz="3200" b="0" strike="noStrike" spc="-1">
              <a:solidFill>
                <a:srgbClr val="000000"/>
              </a:solidFill>
              <a:latin typeface="Arial"/>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5FB2B1B2-5DC2-4864-82C8-14CCD7BF6D50}" type="slidenum">
              <a:t>‹Nº›</a:t>
            </a:fld>
            <a:endParaRPr/>
          </a:p>
        </p:txBody>
      </p:sp>
      <p:sp>
        <p:nvSpPr>
          <p:cNvPr id="6" name="PlaceHolder 5"/>
          <p:cNvSpPr>
            <a:spLocks noGrp="1"/>
          </p:cNvSpPr>
          <p:nvPr>
            <p:ph type="dt" idx="12"/>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ncabezado de sección">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lstStyle/>
          <a:p>
            <a:r>
              <a:t>Footer</a:t>
            </a:r>
          </a:p>
        </p:txBody>
      </p:sp>
      <p:sp>
        <p:nvSpPr>
          <p:cNvPr id="3" name="PlaceHolder 2"/>
          <p:cNvSpPr>
            <a:spLocks noGrp="1"/>
          </p:cNvSpPr>
          <p:nvPr>
            <p:ph type="sldNum" idx="14"/>
          </p:nvPr>
        </p:nvSpPr>
        <p:spPr/>
        <p:txBody>
          <a:bodyPr/>
          <a:lstStyle/>
          <a:p>
            <a:fld id="{645D68D5-BA9B-436C-8CEF-065308D1D27D}" type="slidenum">
              <a:t>‹Nº›</a:t>
            </a:fld>
            <a:endParaRPr/>
          </a:p>
        </p:txBody>
      </p:sp>
      <p:sp>
        <p:nvSpPr>
          <p:cNvPr id="4" name="PlaceHolder 3"/>
          <p:cNvSpPr>
            <a:spLocks noGrp="1"/>
          </p:cNvSpPr>
          <p:nvPr>
            <p:ph type="dt" idx="15"/>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lgn="ctr">
              <a:buNone/>
            </a:pPr>
            <a:endParaRPr lang="es-ES" sz="4400" b="0" strike="noStrike" spc="-1">
              <a:solidFill>
                <a:srgbClr val="000000"/>
              </a:solidFill>
              <a:latin typeface="Arial"/>
            </a:endParaRPr>
          </a:p>
        </p:txBody>
      </p:sp>
      <p:sp>
        <p:nvSpPr>
          <p:cNvPr id="30" name="PlaceHolder 2"/>
          <p:cNvSpPr>
            <a:spLocks noGrp="1"/>
          </p:cNvSpPr>
          <p:nvPr>
            <p:ph/>
          </p:nvPr>
        </p:nvSpPr>
        <p:spPr>
          <a:xfrm>
            <a:off x="838080" y="1825560"/>
            <a:ext cx="5131080" cy="4350600"/>
          </a:xfrm>
          <a:prstGeom prst="rect">
            <a:avLst/>
          </a:prstGeom>
          <a:noFill/>
          <a:ln w="0">
            <a:noFill/>
          </a:ln>
        </p:spPr>
        <p:txBody>
          <a:bodyPr lIns="0" tIns="0" rIns="0" bIns="0" anchor="t">
            <a:normAutofit/>
          </a:bodyPr>
          <a:lstStyle/>
          <a:p>
            <a:pPr indent="0">
              <a:spcBef>
                <a:spcPts val="1417"/>
              </a:spcBef>
              <a:buNone/>
            </a:pPr>
            <a:endParaRPr lang="es-ES" sz="3200" b="0" strike="noStrike" spc="-1">
              <a:solidFill>
                <a:srgbClr val="000000"/>
              </a:solidFill>
              <a:latin typeface="Arial"/>
            </a:endParaRPr>
          </a:p>
        </p:txBody>
      </p:sp>
      <p:sp>
        <p:nvSpPr>
          <p:cNvPr id="31" name="PlaceHolder 3"/>
          <p:cNvSpPr>
            <a:spLocks noGrp="1"/>
          </p:cNvSpPr>
          <p:nvPr>
            <p:ph/>
          </p:nvPr>
        </p:nvSpPr>
        <p:spPr>
          <a:xfrm>
            <a:off x="6226200" y="1825560"/>
            <a:ext cx="5131080" cy="4350600"/>
          </a:xfrm>
          <a:prstGeom prst="rect">
            <a:avLst/>
          </a:prstGeom>
          <a:noFill/>
          <a:ln w="0">
            <a:noFill/>
          </a:ln>
        </p:spPr>
        <p:txBody>
          <a:bodyPr lIns="0" tIns="0" rIns="0" bIns="0" anchor="t">
            <a:normAutofit/>
          </a:bodyPr>
          <a:lstStyle/>
          <a:p>
            <a:pPr indent="0">
              <a:spcBef>
                <a:spcPts val="1417"/>
              </a:spcBef>
              <a:buNone/>
            </a:pPr>
            <a:endParaRPr lang="es-ES" sz="3200" b="0" strike="noStrike" spc="-1">
              <a:solidFill>
                <a:srgbClr val="000000"/>
              </a:solidFill>
              <a:latin typeface="Arial"/>
            </a:endParaRPr>
          </a:p>
        </p:txBody>
      </p:sp>
      <p:sp>
        <p:nvSpPr>
          <p:cNvPr id="5" name="PlaceHolder 4"/>
          <p:cNvSpPr>
            <a:spLocks noGrp="1"/>
          </p:cNvSpPr>
          <p:nvPr>
            <p:ph type="ftr" idx="16"/>
          </p:nvPr>
        </p:nvSpPr>
        <p:spPr/>
        <p:txBody>
          <a:bodyPr/>
          <a:lstStyle/>
          <a:p>
            <a:r>
              <a:t>Footer</a:t>
            </a:r>
          </a:p>
        </p:txBody>
      </p:sp>
      <p:sp>
        <p:nvSpPr>
          <p:cNvPr id="6" name="PlaceHolder 5"/>
          <p:cNvSpPr>
            <a:spLocks noGrp="1"/>
          </p:cNvSpPr>
          <p:nvPr>
            <p:ph type="sldNum" idx="17"/>
          </p:nvPr>
        </p:nvSpPr>
        <p:spPr/>
        <p:txBody>
          <a:bodyPr/>
          <a:lstStyle/>
          <a:p>
            <a:fld id="{F47B2D84-9E67-438B-8CBD-86686CC1D125}" type="slidenum">
              <a:t>‹Nº›</a:t>
            </a:fld>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ació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lstStyle/>
          <a:p>
            <a:r>
              <a:t>Footer</a:t>
            </a:r>
          </a:p>
        </p:txBody>
      </p:sp>
      <p:sp>
        <p:nvSpPr>
          <p:cNvPr id="3" name="PlaceHolder 2"/>
          <p:cNvSpPr>
            <a:spLocks noGrp="1"/>
          </p:cNvSpPr>
          <p:nvPr>
            <p:ph type="sldNum" idx="20"/>
          </p:nvPr>
        </p:nvSpPr>
        <p:spPr/>
        <p:txBody>
          <a:bodyPr/>
          <a:lstStyle/>
          <a:p>
            <a:fld id="{27969D2B-16FF-494B-92A5-B1B8F9C47E2D}" type="slidenum">
              <a:t>‹Nº›</a:t>
            </a:fld>
            <a:endParaRPr/>
          </a:p>
        </p:txBody>
      </p:sp>
      <p:sp>
        <p:nvSpPr>
          <p:cNvPr id="4" name="PlaceHolder 3"/>
          <p:cNvSpPr>
            <a:spLocks noGrp="1"/>
          </p:cNvSpPr>
          <p:nvPr>
            <p:ph type="dt" idx="2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lgn="ctr">
              <a:buNone/>
            </a:pPr>
            <a:endParaRPr lang="es-ES" sz="4400" b="0" strike="noStrike" spc="-1">
              <a:solidFill>
                <a:srgbClr val="000000"/>
              </a:solidFill>
              <a:latin typeface="Arial"/>
            </a:endParaRPr>
          </a:p>
        </p:txBody>
      </p:sp>
      <p:sp>
        <p:nvSpPr>
          <p:cNvPr id="3" name="PlaceHolder 2"/>
          <p:cNvSpPr>
            <a:spLocks noGrp="1"/>
          </p:cNvSpPr>
          <p:nvPr>
            <p:ph type="ftr" idx="22"/>
          </p:nvPr>
        </p:nvSpPr>
        <p:spPr/>
        <p:txBody>
          <a:bodyPr/>
          <a:lstStyle/>
          <a:p>
            <a:r>
              <a:t>Footer</a:t>
            </a:r>
          </a:p>
        </p:txBody>
      </p:sp>
      <p:sp>
        <p:nvSpPr>
          <p:cNvPr id="4" name="PlaceHolder 3"/>
          <p:cNvSpPr>
            <a:spLocks noGrp="1"/>
          </p:cNvSpPr>
          <p:nvPr>
            <p:ph type="sldNum" idx="23"/>
          </p:nvPr>
        </p:nvSpPr>
        <p:spPr/>
        <p:txBody>
          <a:bodyPr/>
          <a:lstStyle/>
          <a:p>
            <a:fld id="{E2D59506-99BF-4304-ABF1-522A16941D14}" type="slidenum">
              <a:t>‹Nº›</a:t>
            </a:fld>
            <a:endParaRPr/>
          </a:p>
        </p:txBody>
      </p:sp>
      <p:sp>
        <p:nvSpPr>
          <p:cNvPr id="5" name="PlaceHolder 4"/>
          <p:cNvSpPr>
            <a:spLocks noGrp="1"/>
          </p:cNvSpPr>
          <p:nvPr>
            <p:ph type="dt" idx="24"/>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lstStyle/>
          <a:p>
            <a:r>
              <a:t>Footer</a:t>
            </a:r>
          </a:p>
        </p:txBody>
      </p:sp>
      <p:sp>
        <p:nvSpPr>
          <p:cNvPr id="3" name="PlaceHolder 2"/>
          <p:cNvSpPr>
            <a:spLocks noGrp="1"/>
          </p:cNvSpPr>
          <p:nvPr>
            <p:ph type="sldNum" idx="26"/>
          </p:nvPr>
        </p:nvSpPr>
        <p:spPr/>
        <p:txBody>
          <a:bodyPr/>
          <a:lstStyle/>
          <a:p>
            <a:fld id="{BE2723EB-3B91-4ED3-8B23-1F7EFC50A57A}" type="slidenum">
              <a:t>‹Nº›</a:t>
            </a:fld>
            <a:endParaRPr/>
          </a:p>
        </p:txBody>
      </p:sp>
      <p:sp>
        <p:nvSpPr>
          <p:cNvPr id="4" name="PlaceHolder 3"/>
          <p:cNvSpPr>
            <a:spLocks noGrp="1"/>
          </p:cNvSpPr>
          <p:nvPr>
            <p:ph type="dt" idx="27"/>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ido con título">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lstStyle/>
          <a:p>
            <a:r>
              <a:t>Footer</a:t>
            </a:r>
          </a:p>
        </p:txBody>
      </p:sp>
      <p:sp>
        <p:nvSpPr>
          <p:cNvPr id="3" name="PlaceHolder 2"/>
          <p:cNvSpPr>
            <a:spLocks noGrp="1"/>
          </p:cNvSpPr>
          <p:nvPr>
            <p:ph type="sldNum" idx="29"/>
          </p:nvPr>
        </p:nvSpPr>
        <p:spPr/>
        <p:txBody>
          <a:bodyPr/>
          <a:lstStyle/>
          <a:p>
            <a:fld id="{A4D8E6A2-68A3-418F-8970-729A92AF011A}" type="slidenum">
              <a:t>‹Nº›</a:t>
            </a:fld>
            <a:endParaRPr/>
          </a:p>
        </p:txBody>
      </p:sp>
      <p:sp>
        <p:nvSpPr>
          <p:cNvPr id="4" name="PlaceHolder 3"/>
          <p:cNvSpPr>
            <a:spLocks noGrp="1"/>
          </p:cNvSpPr>
          <p:nvPr>
            <p:ph type="dt" idx="30"/>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Imagen con título">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lstStyle/>
          <a:p>
            <a:r>
              <a:t>Footer</a:t>
            </a:r>
          </a:p>
        </p:txBody>
      </p:sp>
      <p:sp>
        <p:nvSpPr>
          <p:cNvPr id="3" name="PlaceHolder 2"/>
          <p:cNvSpPr>
            <a:spLocks noGrp="1"/>
          </p:cNvSpPr>
          <p:nvPr>
            <p:ph type="sldNum" idx="32"/>
          </p:nvPr>
        </p:nvSpPr>
        <p:spPr/>
        <p:txBody>
          <a:bodyPr/>
          <a:lstStyle/>
          <a:p>
            <a:fld id="{0FFE1CF5-50E4-42AD-8E14-9D62128842C0}" type="slidenum">
              <a:t>‹Nº›</a:t>
            </a:fld>
            <a:endParaRPr/>
          </a:p>
        </p:txBody>
      </p:sp>
      <p:sp>
        <p:nvSpPr>
          <p:cNvPr id="4" name="PlaceHolder 3"/>
          <p:cNvSpPr>
            <a:spLocks noGrp="1"/>
          </p:cNvSpPr>
          <p:nvPr>
            <p:ph type="dt" idx="33"/>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buNone/>
            </a:pPr>
            <a:r>
              <a:rPr lang="es-ES" sz="1800" b="0" strike="noStrike" spc="-1">
                <a:solidFill>
                  <a:srgbClr val="000000"/>
                </a:solidFill>
                <a:latin typeface="Arial"/>
              </a:rPr>
              <a:t>Pulse para editar el formato del texto de título</a:t>
            </a:r>
          </a:p>
        </p:txBody>
      </p:sp>
      <p:sp>
        <p:nvSpPr>
          <p:cNvPr id="6" name="PlaceHolder 2"/>
          <p:cNvSpPr>
            <a:spLocks noGrp="1"/>
          </p:cNvSpPr>
          <p:nvPr>
            <p:ph type="ftr" idx="1"/>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 </a:t>
            </a:r>
          </a:p>
        </p:txBody>
      </p:sp>
      <p:sp>
        <p:nvSpPr>
          <p:cNvPr id="2" name="PlaceHolder 3"/>
          <p:cNvSpPr>
            <a:spLocks noGrp="1"/>
          </p:cNvSpPr>
          <p:nvPr>
            <p:ph type="sldNum" idx="2"/>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323655AD-AF04-4B3A-94D2-2D23DEF88E55}"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3" name="PlaceHolder 4"/>
          <p:cNvSpPr>
            <a:spLocks noGrp="1"/>
          </p:cNvSpPr>
          <p:nvPr>
            <p:ph type="dt" idx="3"/>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 </a:t>
            </a: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ES" sz="32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ES" sz="2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ES" sz="24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ES" sz="20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ES" sz="20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ES" sz="20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ES" sz="2000" b="0" strike="noStrike" spc="-1">
                <a:solidFill>
                  <a:srgbClr val="000000"/>
                </a:solidFill>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8" name="PlaceHolder 2"/>
          <p:cNvSpPr>
            <a:spLocks noGrp="1"/>
          </p:cNvSpPr>
          <p:nvPr>
            <p:ph type="sldNum" idx="5"/>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68A54815-73C1-4FB2-BF07-5E3A5EEE647B}"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9" name="PlaceHolder 3"/>
          <p:cNvSpPr>
            <a:spLocks noGrp="1"/>
          </p:cNvSpPr>
          <p:nvPr>
            <p:ph type="dt" idx="6"/>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laceHolder 1"/>
          <p:cNvSpPr>
            <a:spLocks noGrp="1"/>
          </p:cNvSpPr>
          <p:nvPr>
            <p:ph type="ftr" idx="7"/>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11" name="PlaceHolder 2"/>
          <p:cNvSpPr>
            <a:spLocks noGrp="1"/>
          </p:cNvSpPr>
          <p:nvPr>
            <p:ph type="sldNum" idx="8"/>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527F9165-E130-4442-876B-129029C6B41A}"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12" name="PlaceHolder 3"/>
          <p:cNvSpPr>
            <a:spLocks noGrp="1"/>
          </p:cNvSpPr>
          <p:nvPr>
            <p:ph type="dt" idx="9"/>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buNone/>
            </a:pPr>
            <a:r>
              <a:rPr lang="es-ES" sz="1800" b="0" strike="noStrike" spc="-1">
                <a:solidFill>
                  <a:srgbClr val="000000"/>
                </a:solidFill>
                <a:latin typeface="Arial"/>
              </a:rPr>
              <a:t>Pulse para editar el formato del texto de título</a:t>
            </a:r>
          </a:p>
        </p:txBody>
      </p:sp>
      <p:sp>
        <p:nvSpPr>
          <p:cNvPr id="14" name="PlaceHolder 2"/>
          <p:cNvSpPr>
            <a:spLocks noGrp="1"/>
          </p:cNvSpPr>
          <p:nvPr>
            <p:ph type="body"/>
          </p:nvPr>
        </p:nvSpPr>
        <p:spPr>
          <a:xfrm>
            <a:off x="838080" y="1825560"/>
            <a:ext cx="10514880" cy="4350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ES" sz="18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ES" sz="1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ES" sz="18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ES" sz="18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ES" sz="18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ES" sz="18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ES" sz="1800" b="0" strike="noStrike" spc="-1">
                <a:solidFill>
                  <a:srgbClr val="000000"/>
                </a:solidFill>
                <a:latin typeface="Arial"/>
              </a:rPr>
              <a:t>Séptimo nivel del esquema</a:t>
            </a:r>
          </a:p>
        </p:txBody>
      </p:sp>
      <p:sp>
        <p:nvSpPr>
          <p:cNvPr id="15" name="PlaceHolder 3"/>
          <p:cNvSpPr>
            <a:spLocks noGrp="1"/>
          </p:cNvSpPr>
          <p:nvPr>
            <p:ph type="ftr" idx="10"/>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16" name="PlaceHolder 4"/>
          <p:cNvSpPr>
            <a:spLocks noGrp="1"/>
          </p:cNvSpPr>
          <p:nvPr>
            <p:ph type="sldNum" idx="11"/>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8CF341BA-2783-4DF4-BDFB-2B19D762A3D2}"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17" name="PlaceHolder 5"/>
          <p:cNvSpPr>
            <a:spLocks noGrp="1"/>
          </p:cNvSpPr>
          <p:nvPr>
            <p:ph type="dt" idx="12"/>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PlaceHolder 1"/>
          <p:cNvSpPr>
            <a:spLocks noGrp="1"/>
          </p:cNvSpPr>
          <p:nvPr>
            <p:ph type="ftr" idx="13"/>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21" name="PlaceHolder 2"/>
          <p:cNvSpPr>
            <a:spLocks noGrp="1"/>
          </p:cNvSpPr>
          <p:nvPr>
            <p:ph type="sldNum" idx="14"/>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A9DDAA4F-8B59-4CD0-B3D7-E2602E2B0EA7}"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22" name="PlaceHolder 3"/>
          <p:cNvSpPr>
            <a:spLocks noGrp="1"/>
          </p:cNvSpPr>
          <p:nvPr>
            <p:ph type="dt" idx="15"/>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buNone/>
            </a:pPr>
            <a:r>
              <a:rPr lang="es-ES" sz="1800" b="0" strike="noStrike" spc="-1">
                <a:solidFill>
                  <a:srgbClr val="000000"/>
                </a:solidFill>
                <a:latin typeface="Arial"/>
              </a:rPr>
              <a:t>Pulse para editar el formato del texto de título</a:t>
            </a:r>
          </a:p>
        </p:txBody>
      </p:sp>
      <p:sp>
        <p:nvSpPr>
          <p:cNvPr id="24" name="PlaceHolder 2"/>
          <p:cNvSpPr>
            <a:spLocks noGrp="1"/>
          </p:cNvSpPr>
          <p:nvPr>
            <p:ph type="body"/>
          </p:nvPr>
        </p:nvSpPr>
        <p:spPr>
          <a:xfrm>
            <a:off x="838080" y="1825560"/>
            <a:ext cx="5130720" cy="4350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ES" sz="18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ES" sz="1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ES" sz="18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ES" sz="18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ES" sz="18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ES" sz="18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ES" sz="1800" b="0" strike="noStrike" spc="-1">
                <a:solidFill>
                  <a:srgbClr val="000000"/>
                </a:solidFill>
                <a:latin typeface="Arial"/>
              </a:rPr>
              <a:t>Séptimo nivel del esquema</a:t>
            </a:r>
          </a:p>
        </p:txBody>
      </p:sp>
      <p:sp>
        <p:nvSpPr>
          <p:cNvPr id="25" name="PlaceHolder 3"/>
          <p:cNvSpPr>
            <a:spLocks noGrp="1"/>
          </p:cNvSpPr>
          <p:nvPr>
            <p:ph type="body"/>
          </p:nvPr>
        </p:nvSpPr>
        <p:spPr>
          <a:xfrm>
            <a:off x="6226200" y="1825560"/>
            <a:ext cx="5130720" cy="4350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ES" sz="18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ES" sz="1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ES" sz="18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ES" sz="18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ES" sz="18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ES" sz="18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ES" sz="1800" b="0" strike="noStrike" spc="-1">
                <a:solidFill>
                  <a:srgbClr val="000000"/>
                </a:solidFill>
                <a:latin typeface="Arial"/>
              </a:rPr>
              <a:t>Séptimo nivel del esquema</a:t>
            </a:r>
          </a:p>
        </p:txBody>
      </p:sp>
      <p:sp>
        <p:nvSpPr>
          <p:cNvPr id="26" name="PlaceHolder 4"/>
          <p:cNvSpPr>
            <a:spLocks noGrp="1"/>
          </p:cNvSpPr>
          <p:nvPr>
            <p:ph type="ftr" idx="16"/>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27" name="PlaceHolder 5"/>
          <p:cNvSpPr>
            <a:spLocks noGrp="1"/>
          </p:cNvSpPr>
          <p:nvPr>
            <p:ph type="sldNum" idx="17"/>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CA92BBA9-EE43-4F35-82BE-16BAA5292B80}"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28" name="PlaceHolder 6"/>
          <p:cNvSpPr>
            <a:spLocks noGrp="1"/>
          </p:cNvSpPr>
          <p:nvPr>
            <p:ph type="dt" idx="18"/>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ftr" idx="19"/>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33" name="PlaceHolder 2"/>
          <p:cNvSpPr>
            <a:spLocks noGrp="1"/>
          </p:cNvSpPr>
          <p:nvPr>
            <p:ph type="sldNum" idx="20"/>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951F9309-E91D-45B8-AFF3-16072FE3D947}"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34" name="PlaceHolder 3"/>
          <p:cNvSpPr>
            <a:spLocks noGrp="1"/>
          </p:cNvSpPr>
          <p:nvPr>
            <p:ph type="dt" idx="21"/>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buNone/>
            </a:pPr>
            <a:r>
              <a:rPr lang="es-ES" sz="1800" b="0" strike="noStrike" spc="-1">
                <a:solidFill>
                  <a:srgbClr val="000000"/>
                </a:solidFill>
                <a:latin typeface="Arial"/>
              </a:rPr>
              <a:t>Pulse para editar el formato del texto de título</a:t>
            </a:r>
          </a:p>
        </p:txBody>
      </p:sp>
      <p:sp>
        <p:nvSpPr>
          <p:cNvPr id="36" name="PlaceHolder 2"/>
          <p:cNvSpPr>
            <a:spLocks noGrp="1"/>
          </p:cNvSpPr>
          <p:nvPr>
            <p:ph type="ftr" idx="2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37" name="PlaceHolder 3"/>
          <p:cNvSpPr>
            <a:spLocks noGrp="1"/>
          </p:cNvSpPr>
          <p:nvPr>
            <p:ph type="sldNum" idx="23"/>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85AEF4A3-12D7-4A20-901D-BE4B0668D525}"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38" name="PlaceHolder 4"/>
          <p:cNvSpPr>
            <a:spLocks noGrp="1"/>
          </p:cNvSpPr>
          <p:nvPr>
            <p:ph type="dt" idx="24"/>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ftr" idx="25"/>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41" name="PlaceHolder 2"/>
          <p:cNvSpPr>
            <a:spLocks noGrp="1"/>
          </p:cNvSpPr>
          <p:nvPr>
            <p:ph type="sldNum" idx="26"/>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40D14C81-7213-4AA4-BB41-B54008D10B68}"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42" name="PlaceHolder 3"/>
          <p:cNvSpPr>
            <a:spLocks noGrp="1"/>
          </p:cNvSpPr>
          <p:nvPr>
            <p:ph type="dt" idx="27"/>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ftr" idx="28"/>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44" name="PlaceHolder 2"/>
          <p:cNvSpPr>
            <a:spLocks noGrp="1"/>
          </p:cNvSpPr>
          <p:nvPr>
            <p:ph type="sldNum" idx="29"/>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23A0601C-6C15-4431-A3D9-A5062780335A}"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45" name="PlaceHolder 3"/>
          <p:cNvSpPr>
            <a:spLocks noGrp="1"/>
          </p:cNvSpPr>
          <p:nvPr>
            <p:ph type="dt" idx="30"/>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PlaceHolder 1"/>
          <p:cNvSpPr>
            <a:spLocks noGrp="1"/>
          </p:cNvSpPr>
          <p:nvPr>
            <p:ph type="ftr" idx="31"/>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strike="noStrike" spc="-1">
                <a:solidFill>
                  <a:srgbClr val="000000"/>
                </a:solidFill>
                <a:latin typeface="Times New Roman"/>
              </a:defRPr>
            </a:lvl1pPr>
          </a:lstStyle>
          <a:p>
            <a:pPr indent="0" algn="ctr">
              <a:lnSpc>
                <a:spcPct val="100000"/>
              </a:lnSpc>
              <a:buNone/>
              <a:tabLst>
                <a:tab pos="0" algn="l"/>
              </a:tabLst>
            </a:pPr>
            <a:r>
              <a:rPr lang="es-ES" sz="1400" b="0" strike="noStrike" spc="-1">
                <a:solidFill>
                  <a:srgbClr val="000000"/>
                </a:solidFill>
                <a:latin typeface="Times New Roman"/>
              </a:rPr>
              <a:t>&lt;pie de página&gt;</a:t>
            </a:r>
          </a:p>
        </p:txBody>
      </p:sp>
      <p:sp>
        <p:nvSpPr>
          <p:cNvPr id="47" name="PlaceHolder 2"/>
          <p:cNvSpPr>
            <a:spLocks noGrp="1"/>
          </p:cNvSpPr>
          <p:nvPr>
            <p:ph type="sldNum" idx="32"/>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ES" sz="1200" b="0" strike="noStrike" spc="-1">
                <a:solidFill>
                  <a:schemeClr val="dk1">
                    <a:tint val="75000"/>
                  </a:schemeClr>
                </a:solidFill>
                <a:latin typeface="Calibri"/>
              </a:defRPr>
            </a:lvl1pPr>
          </a:lstStyle>
          <a:p>
            <a:pPr indent="0" algn="r" defTabSz="914400">
              <a:lnSpc>
                <a:spcPct val="100000"/>
              </a:lnSpc>
              <a:buNone/>
              <a:tabLst>
                <a:tab pos="0" algn="l"/>
              </a:tabLst>
            </a:pPr>
            <a:fld id="{11ACB5CF-8EF6-487B-8D3F-3F8F956EBC9F}" type="slidenum">
              <a:rPr lang="es-ES" sz="1200" b="0" strike="noStrike" spc="-1">
                <a:solidFill>
                  <a:schemeClr val="dk1">
                    <a:tint val="75000"/>
                  </a:schemeClr>
                </a:solidFill>
                <a:latin typeface="Calibri"/>
              </a:rPr>
              <a:t>‹Nº›</a:t>
            </a:fld>
            <a:endParaRPr lang="es-ES" sz="1200" b="0" strike="noStrike" spc="-1">
              <a:solidFill>
                <a:srgbClr val="000000"/>
              </a:solidFill>
              <a:latin typeface="Times New Roman"/>
            </a:endParaRPr>
          </a:p>
        </p:txBody>
      </p:sp>
      <p:sp>
        <p:nvSpPr>
          <p:cNvPr id="48" name="PlaceHolder 3"/>
          <p:cNvSpPr>
            <a:spLocks noGrp="1"/>
          </p:cNvSpPr>
          <p:nvPr>
            <p:ph type="dt" idx="33"/>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slide" Target="slide3.xml"/><Relationship Id="rId1" Type="http://schemas.openxmlformats.org/officeDocument/2006/relationships/slideLayout" Target="../slideLayouts/slideLayout4.xml"/><Relationship Id="rId6" Type="http://schemas.openxmlformats.org/officeDocument/2006/relationships/slide" Target="slide12.xm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slide" Target="slide5.xml"/><Relationship Id="rId4" Type="http://schemas.openxmlformats.org/officeDocument/2006/relationships/slide" Target="slide4.xml"/><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Imagen 8"/>
          <p:cNvPicPr/>
          <p:nvPr/>
        </p:nvPicPr>
        <p:blipFill>
          <a:blip r:embed="rId2"/>
          <a:stretch/>
        </p:blipFill>
        <p:spPr>
          <a:xfrm>
            <a:off x="0" y="-2160"/>
            <a:ext cx="12186360" cy="6854760"/>
          </a:xfrm>
          <a:prstGeom prst="rect">
            <a:avLst/>
          </a:prstGeom>
          <a:ln w="0">
            <a:noFill/>
          </a:ln>
        </p:spPr>
      </p:pic>
      <p:pic>
        <p:nvPicPr>
          <p:cNvPr id="50" name="Imagen 5"/>
          <p:cNvPicPr/>
          <p:nvPr/>
        </p:nvPicPr>
        <p:blipFill>
          <a:blip r:embed="rId3"/>
          <a:stretch/>
        </p:blipFill>
        <p:spPr>
          <a:xfrm>
            <a:off x="6091200" y="3424320"/>
            <a:ext cx="8640" cy="8640"/>
          </a:xfrm>
          <a:prstGeom prst="rect">
            <a:avLst/>
          </a:prstGeom>
          <a:ln w="0">
            <a:noFill/>
          </a:ln>
        </p:spPr>
      </p:pic>
      <p:sp>
        <p:nvSpPr>
          <p:cNvPr id="51" name="CuadroTexto 12"/>
          <p:cNvSpPr/>
          <p:nvPr/>
        </p:nvSpPr>
        <p:spPr>
          <a:xfrm>
            <a:off x="7229880" y="727920"/>
            <a:ext cx="4956840" cy="363960"/>
          </a:xfrm>
          <a:prstGeom prst="rect">
            <a:avLst/>
          </a:prstGeom>
          <a:noFill/>
          <a:ln w="0">
            <a:noFill/>
          </a:ln>
          <a:effectLst>
            <a:outerShdw blurRad="50760" dist="38160" algn="l" rotWithShape="0">
              <a:srgbClr val="000000">
                <a:alpha val="40000"/>
              </a:srgbClr>
            </a:outerShdw>
          </a:effectLst>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1" strike="noStrike" spc="-1">
                <a:solidFill>
                  <a:schemeClr val="lt1"/>
                </a:solidFill>
                <a:latin typeface="Calibri"/>
              </a:rPr>
              <a:t>Oferta turística vs precios de vivienda en Madrid</a:t>
            </a:r>
            <a:endParaRPr lang="es-ES" sz="1800" b="0" strike="noStrike" spc="-1">
              <a:solidFill>
                <a:srgbClr val="000000"/>
              </a:solidFill>
              <a:latin typeface="Arial"/>
            </a:endParaRPr>
          </a:p>
        </p:txBody>
      </p:sp>
      <p:sp>
        <p:nvSpPr>
          <p:cNvPr id="52" name="CuadroTexto 14"/>
          <p:cNvSpPr/>
          <p:nvPr/>
        </p:nvSpPr>
        <p:spPr>
          <a:xfrm>
            <a:off x="7229880" y="1097280"/>
            <a:ext cx="4741560" cy="1431360"/>
          </a:xfrm>
          <a:prstGeom prst="rect">
            <a:avLst/>
          </a:prstGeom>
          <a:noFill/>
          <a:ln w="0">
            <a:noFill/>
          </a:ln>
          <a:effectLst>
            <a:outerShdw blurRad="50760" dist="37674" dir="2700000" algn="tl" rotWithShape="0">
              <a:srgbClr val="000000">
                <a:alpha val="40000"/>
              </a:srgbClr>
            </a:outerShdw>
          </a:effectLst>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400" b="0" strike="noStrike" spc="-1">
                <a:solidFill>
                  <a:schemeClr val="lt1"/>
                </a:solidFill>
                <a:latin typeface="Calibri"/>
              </a:rPr>
              <a:t>Participantes:</a:t>
            </a:r>
            <a:endParaRPr lang="es-ES" sz="1400" b="0" strike="noStrike" spc="-1">
              <a:solidFill>
                <a:srgbClr val="000000"/>
              </a:solidFill>
              <a:latin typeface="Arial"/>
            </a:endParaRPr>
          </a:p>
          <a:p>
            <a:pPr algn="r" defTabSz="914400">
              <a:lnSpc>
                <a:spcPct val="100000"/>
              </a:lnSpc>
            </a:pPr>
            <a:r>
              <a:rPr lang="es-ES" sz="1400" b="0" strike="noStrike" spc="-1">
                <a:solidFill>
                  <a:schemeClr val="lt1"/>
                </a:solidFill>
                <a:latin typeface="Calibri"/>
              </a:rPr>
              <a:t>Nazareth Montero</a:t>
            </a:r>
            <a:endParaRPr lang="es-ES" sz="1400" b="0" strike="noStrike" spc="-1">
              <a:solidFill>
                <a:srgbClr val="000000"/>
              </a:solidFill>
              <a:latin typeface="Arial"/>
            </a:endParaRPr>
          </a:p>
          <a:p>
            <a:pPr algn="r" defTabSz="914400">
              <a:lnSpc>
                <a:spcPct val="100000"/>
              </a:lnSpc>
            </a:pPr>
            <a:r>
              <a:rPr lang="es-ES" sz="1400" b="0" strike="noStrike" spc="-1">
                <a:solidFill>
                  <a:schemeClr val="lt1"/>
                </a:solidFill>
                <a:latin typeface="Calibri"/>
              </a:rPr>
              <a:t>Javier Pascual</a:t>
            </a:r>
            <a:endParaRPr lang="es-ES" sz="1400" b="0" strike="noStrike" spc="-1">
              <a:solidFill>
                <a:srgbClr val="000000"/>
              </a:solidFill>
              <a:latin typeface="Arial"/>
            </a:endParaRPr>
          </a:p>
          <a:p>
            <a:pPr algn="r" defTabSz="914400">
              <a:lnSpc>
                <a:spcPct val="100000"/>
              </a:lnSpc>
            </a:pPr>
            <a:r>
              <a:rPr lang="es-ES" sz="1400" b="0" strike="noStrike" spc="-1">
                <a:solidFill>
                  <a:schemeClr val="lt1"/>
                </a:solidFill>
                <a:latin typeface="Calibri"/>
              </a:rPr>
              <a:t>Román Diaz</a:t>
            </a:r>
            <a:endParaRPr lang="es-ES" sz="1400" b="0" strike="noStrike" spc="-1">
              <a:solidFill>
                <a:srgbClr val="000000"/>
              </a:solidFill>
              <a:latin typeface="Arial"/>
            </a:endParaRPr>
          </a:p>
          <a:p>
            <a:pPr algn="r" defTabSz="914400">
              <a:lnSpc>
                <a:spcPct val="100000"/>
              </a:lnSpc>
            </a:pPr>
            <a:r>
              <a:rPr lang="es-ES" sz="1400" b="0" strike="noStrike" spc="-1">
                <a:solidFill>
                  <a:schemeClr val="lt1"/>
                </a:solidFill>
                <a:latin typeface="Calibri"/>
              </a:rPr>
              <a:t>Sara Ruiz</a:t>
            </a:r>
            <a:endParaRPr lang="es-ES" sz="1400" b="0" strike="noStrike" spc="-1">
              <a:solidFill>
                <a:srgbClr val="000000"/>
              </a:solidFill>
              <a:latin typeface="Arial"/>
            </a:endParaRPr>
          </a:p>
          <a:p>
            <a:pPr defTabSz="914400">
              <a:lnSpc>
                <a:spcPct val="100000"/>
              </a:lnSpc>
            </a:pPr>
            <a:endParaRPr lang="es-ES" sz="180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ángulo 5"/>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54" name="CuadroTexto 7"/>
          <p:cNvSpPr/>
          <p:nvPr/>
        </p:nvSpPr>
        <p:spPr>
          <a:xfrm>
            <a:off x="527760" y="479520"/>
            <a:ext cx="11135520" cy="1156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s-ES" sz="7000" b="1" strike="noStrike" spc="-1">
                <a:solidFill>
                  <a:schemeClr val="accent2">
                    <a:lumMod val="50000"/>
                  </a:schemeClr>
                </a:solidFill>
                <a:latin typeface="Calibri Light"/>
              </a:rPr>
              <a:t>INDICE</a:t>
            </a:r>
            <a:endParaRPr lang="es-ES" sz="7000" b="0" strike="noStrike" spc="-1">
              <a:solidFill>
                <a:srgbClr val="000000"/>
              </a:solidFill>
              <a:latin typeface="Arial"/>
            </a:endParaRPr>
          </a:p>
        </p:txBody>
      </p:sp>
      <p:sp>
        <p:nvSpPr>
          <p:cNvPr id="55" name="CuadroTexto 8"/>
          <p:cNvSpPr/>
          <p:nvPr/>
        </p:nvSpPr>
        <p:spPr>
          <a:xfrm>
            <a:off x="575994" y="2551680"/>
            <a:ext cx="1716496" cy="67565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914400">
              <a:lnSpc>
                <a:spcPct val="100000"/>
              </a:lnSpc>
            </a:pPr>
            <a:r>
              <a:rPr lang="es-ES" sz="1900" b="1" strike="noStrike" spc="-1" dirty="0">
                <a:solidFill>
                  <a:schemeClr val="accent2">
                    <a:lumMod val="50000"/>
                  </a:schemeClr>
                </a:solidFill>
                <a:latin typeface="Calibri"/>
              </a:rPr>
              <a:t>1.  Definición del problema</a:t>
            </a:r>
            <a:endParaRPr lang="es-ES" sz="1900" b="0" strike="noStrike" spc="-1" dirty="0">
              <a:solidFill>
                <a:srgbClr val="000000"/>
              </a:solidFill>
              <a:latin typeface="Arial"/>
            </a:endParaRPr>
          </a:p>
        </p:txBody>
      </p:sp>
      <p:sp>
        <p:nvSpPr>
          <p:cNvPr id="56" name="CuadroTexto 9"/>
          <p:cNvSpPr/>
          <p:nvPr/>
        </p:nvSpPr>
        <p:spPr>
          <a:xfrm>
            <a:off x="2819582" y="2551680"/>
            <a:ext cx="1963800" cy="67565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914400">
              <a:lnSpc>
                <a:spcPct val="100000"/>
              </a:lnSpc>
            </a:pPr>
            <a:r>
              <a:rPr lang="es-ES" sz="1900" b="1" strike="noStrike" spc="-1" dirty="0">
                <a:solidFill>
                  <a:schemeClr val="accent2">
                    <a:lumMod val="50000"/>
                  </a:schemeClr>
                </a:solidFill>
                <a:latin typeface="Calibri"/>
              </a:rPr>
              <a:t>2.  Planteamiento de la hipótesis</a:t>
            </a:r>
            <a:endParaRPr lang="es-ES" sz="1900" b="0" strike="noStrike" spc="-1" dirty="0">
              <a:solidFill>
                <a:srgbClr val="000000"/>
              </a:solidFill>
              <a:latin typeface="Arial"/>
            </a:endParaRPr>
          </a:p>
        </p:txBody>
      </p:sp>
      <p:sp>
        <p:nvSpPr>
          <p:cNvPr id="57" name="CuadroTexto 10"/>
          <p:cNvSpPr/>
          <p:nvPr/>
        </p:nvSpPr>
        <p:spPr>
          <a:xfrm>
            <a:off x="5310474" y="2551680"/>
            <a:ext cx="1570092" cy="968042"/>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914400">
              <a:lnSpc>
                <a:spcPct val="100000"/>
              </a:lnSpc>
            </a:pPr>
            <a:r>
              <a:rPr lang="es-ES" sz="1900" b="1" strike="noStrike" spc="-1" dirty="0">
                <a:solidFill>
                  <a:schemeClr val="accent2">
                    <a:lumMod val="50000"/>
                  </a:schemeClr>
                </a:solidFill>
                <a:latin typeface="Calibri"/>
              </a:rPr>
              <a:t>3.  Extracción y tratamiento de los datos</a:t>
            </a:r>
            <a:endParaRPr lang="es-ES" sz="1900" b="0" strike="noStrike" spc="-1" dirty="0">
              <a:solidFill>
                <a:srgbClr val="000000"/>
              </a:solidFill>
              <a:latin typeface="Arial"/>
            </a:endParaRPr>
          </a:p>
        </p:txBody>
      </p:sp>
      <p:sp>
        <p:nvSpPr>
          <p:cNvPr id="58" name="CuadroTexto 11"/>
          <p:cNvSpPr/>
          <p:nvPr/>
        </p:nvSpPr>
        <p:spPr>
          <a:xfrm>
            <a:off x="9504842" y="2551680"/>
            <a:ext cx="2026440" cy="38326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914400">
              <a:lnSpc>
                <a:spcPct val="100000"/>
              </a:lnSpc>
            </a:pPr>
            <a:r>
              <a:rPr lang="es-ES" sz="1900" b="1" spc="-1" dirty="0">
                <a:solidFill>
                  <a:schemeClr val="accent2">
                    <a:lumMod val="50000"/>
                  </a:schemeClr>
                </a:solidFill>
                <a:latin typeface="Calibri"/>
              </a:rPr>
              <a:t>5</a:t>
            </a:r>
            <a:r>
              <a:rPr lang="es-ES" sz="1900" b="1" strike="noStrike" spc="-1" dirty="0">
                <a:solidFill>
                  <a:schemeClr val="accent2">
                    <a:lumMod val="50000"/>
                  </a:schemeClr>
                </a:solidFill>
                <a:latin typeface="Calibri"/>
              </a:rPr>
              <a:t>.  Conclusiones</a:t>
            </a:r>
            <a:endParaRPr lang="es-ES" sz="1900" b="0" strike="noStrike" spc="-1" dirty="0">
              <a:solidFill>
                <a:srgbClr val="000000"/>
              </a:solidFill>
              <a:latin typeface="Arial"/>
            </a:endParaRPr>
          </a:p>
        </p:txBody>
      </p:sp>
      <p:pic>
        <p:nvPicPr>
          <p:cNvPr id="59" name="Imagen 20">
            <a:hlinkClick r:id="rId2" action="ppaction://hlinksldjump"/>
          </p:cNvPr>
          <p:cNvPicPr/>
          <p:nvPr/>
        </p:nvPicPr>
        <p:blipFill>
          <a:blip r:embed="rId3"/>
          <a:stretch/>
        </p:blipFill>
        <p:spPr>
          <a:xfrm>
            <a:off x="667346" y="3847203"/>
            <a:ext cx="1716496" cy="1156320"/>
          </a:xfrm>
          <a:prstGeom prst="rect">
            <a:avLst/>
          </a:prstGeom>
          <a:ln w="0">
            <a:noFill/>
          </a:ln>
        </p:spPr>
      </p:pic>
      <p:pic>
        <p:nvPicPr>
          <p:cNvPr id="60" name="Imagen 22">
            <a:hlinkClick r:id="rId4" action="ppaction://hlinksldjump"/>
          </p:cNvPr>
          <p:cNvPicPr/>
          <p:nvPr/>
        </p:nvPicPr>
        <p:blipFill>
          <a:blip r:embed="rId5"/>
          <a:stretch/>
        </p:blipFill>
        <p:spPr>
          <a:xfrm>
            <a:off x="3128591" y="3767136"/>
            <a:ext cx="1493311" cy="1316453"/>
          </a:xfrm>
          <a:prstGeom prst="rect">
            <a:avLst/>
          </a:prstGeom>
          <a:ln w="0">
            <a:noFill/>
          </a:ln>
        </p:spPr>
      </p:pic>
      <p:pic>
        <p:nvPicPr>
          <p:cNvPr id="62" name="Imagen 26">
            <a:hlinkClick r:id="rId6" action="ppaction://hlinksldjump"/>
          </p:cNvPr>
          <p:cNvPicPr/>
          <p:nvPr/>
        </p:nvPicPr>
        <p:blipFill>
          <a:blip r:embed="rId7"/>
          <a:stretch/>
        </p:blipFill>
        <p:spPr>
          <a:xfrm>
            <a:off x="9886341" y="3793262"/>
            <a:ext cx="1368783" cy="1102851"/>
          </a:xfrm>
          <a:prstGeom prst="rect">
            <a:avLst/>
          </a:prstGeom>
          <a:ln w="0">
            <a:noFill/>
          </a:ln>
        </p:spPr>
      </p:pic>
      <p:pic>
        <p:nvPicPr>
          <p:cNvPr id="63" name="Imagen 28">
            <a:hlinkClick r:id="rId8" action="ppaction://hlinksldjump"/>
          </p:cNvPr>
          <p:cNvPicPr/>
          <p:nvPr/>
        </p:nvPicPr>
        <p:blipFill>
          <a:blip r:embed="rId9"/>
          <a:stretch/>
        </p:blipFill>
        <p:spPr>
          <a:xfrm>
            <a:off x="7508312" y="3716528"/>
            <a:ext cx="1368783" cy="1316453"/>
          </a:xfrm>
          <a:prstGeom prst="rect">
            <a:avLst/>
          </a:prstGeom>
          <a:ln w="0">
            <a:noFill/>
          </a:ln>
        </p:spPr>
      </p:pic>
      <p:sp>
        <p:nvSpPr>
          <p:cNvPr id="13" name="CuadroTexto 10">
            <a:extLst>
              <a:ext uri="{FF2B5EF4-FFF2-40B4-BE49-F238E27FC236}">
                <a16:creationId xmlns:a16="http://schemas.microsoft.com/office/drawing/2014/main" id="{8E387D47-3B56-446E-8B27-7902FC30F90D}"/>
              </a:ext>
            </a:extLst>
          </p:cNvPr>
          <p:cNvSpPr/>
          <p:nvPr/>
        </p:nvSpPr>
        <p:spPr>
          <a:xfrm>
            <a:off x="7407658" y="2551680"/>
            <a:ext cx="1570092" cy="67565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914400">
              <a:lnSpc>
                <a:spcPct val="100000"/>
              </a:lnSpc>
            </a:pPr>
            <a:r>
              <a:rPr lang="es-ES" sz="1900" b="1" spc="-1" dirty="0">
                <a:solidFill>
                  <a:schemeClr val="accent2">
                    <a:lumMod val="50000"/>
                  </a:schemeClr>
                </a:solidFill>
                <a:latin typeface="Calibri"/>
              </a:rPr>
              <a:t>4</a:t>
            </a:r>
            <a:r>
              <a:rPr lang="es-ES" sz="1900" b="1" strike="noStrike" spc="-1" dirty="0">
                <a:solidFill>
                  <a:schemeClr val="accent2">
                    <a:lumMod val="50000"/>
                  </a:schemeClr>
                </a:solidFill>
                <a:latin typeface="Calibri"/>
              </a:rPr>
              <a:t>.  Análisis de los datos</a:t>
            </a:r>
            <a:endParaRPr lang="es-ES" sz="1900" b="0" strike="noStrike" spc="-1" dirty="0">
              <a:solidFill>
                <a:srgbClr val="000000"/>
              </a:solidFill>
              <a:latin typeface="Arial"/>
            </a:endParaRPr>
          </a:p>
        </p:txBody>
      </p:sp>
      <p:pic>
        <p:nvPicPr>
          <p:cNvPr id="16" name="Marcador de contenido 6">
            <a:hlinkClick r:id="rId10" action="ppaction://hlinksldjump"/>
            <a:extLst>
              <a:ext uri="{FF2B5EF4-FFF2-40B4-BE49-F238E27FC236}">
                <a16:creationId xmlns:a16="http://schemas.microsoft.com/office/drawing/2014/main" id="{1D76A549-A656-44CD-9D5A-411B82EB5B40}"/>
              </a:ext>
            </a:extLst>
          </p:cNvPr>
          <p:cNvPicPr>
            <a:picLocks noGrp="1" noChangeAspect="1"/>
          </p:cNvPicPr>
          <p:nvPr>
            <p:ph/>
          </p:nvPr>
        </p:nvPicPr>
        <p:blipFill>
          <a:blip r:embed="rId11" cstate="print">
            <a:extLst>
              <a:ext uri="{28A0092B-C50C-407E-A947-70E740481C1C}">
                <a14:useLocalDpi xmlns:a14="http://schemas.microsoft.com/office/drawing/2010/main" val="0"/>
              </a:ext>
            </a:extLst>
          </a:blip>
          <a:stretch>
            <a:fillRect/>
          </a:stretch>
        </p:blipFill>
        <p:spPr>
          <a:xfrm>
            <a:off x="5366651" y="3333022"/>
            <a:ext cx="1699717" cy="2424899"/>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ángulo 5"/>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65" name="CuadroTexto 7"/>
          <p:cNvSpPr/>
          <p:nvPr/>
        </p:nvSpPr>
        <p:spPr>
          <a:xfrm>
            <a:off x="527760" y="479520"/>
            <a:ext cx="11135520" cy="623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trike="noStrike" spc="-1">
                <a:solidFill>
                  <a:srgbClr val="582808"/>
                </a:solidFill>
                <a:latin typeface="Calibri Light"/>
              </a:rPr>
              <a:t>1. Definición del problema</a:t>
            </a:r>
            <a:endParaRPr lang="es-ES" sz="3500" b="0" strike="noStrike" spc="-1">
              <a:solidFill>
                <a:srgbClr val="000000"/>
              </a:solidFill>
              <a:latin typeface="Arial"/>
            </a:endParaRPr>
          </a:p>
        </p:txBody>
      </p:sp>
      <p:pic>
        <p:nvPicPr>
          <p:cNvPr id="66" name="Imagen 20"/>
          <p:cNvPicPr/>
          <p:nvPr/>
        </p:nvPicPr>
        <p:blipFill>
          <a:blip r:embed="rId2"/>
          <a:stretch/>
        </p:blipFill>
        <p:spPr>
          <a:xfrm>
            <a:off x="10757520" y="471240"/>
            <a:ext cx="1065240" cy="801000"/>
          </a:xfrm>
          <a:prstGeom prst="rect">
            <a:avLst/>
          </a:prstGeom>
          <a:ln w="0">
            <a:noFill/>
          </a:ln>
        </p:spPr>
      </p:pic>
      <p:sp>
        <p:nvSpPr>
          <p:cNvPr id="67" name="CuadroTexto 2"/>
          <p:cNvSpPr/>
          <p:nvPr/>
        </p:nvSpPr>
        <p:spPr>
          <a:xfrm>
            <a:off x="622080" y="1984680"/>
            <a:ext cx="1094688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0" strike="noStrike" spc="-1">
                <a:solidFill>
                  <a:srgbClr val="582808"/>
                </a:solidFill>
                <a:latin typeface="Calibri"/>
              </a:rPr>
              <a:t>En los últimos años, el crecimiento de plataformas de alquiler turístico – como por ejemplo Airbnb – ha generado un intenso debate sobre su impacto en el mercado inmobiliario de grandes ciudades.</a:t>
            </a:r>
            <a:endParaRPr lang="es-ES" sz="1800" b="0" strike="noStrike" spc="-1">
              <a:solidFill>
                <a:srgbClr val="000000"/>
              </a:solidFill>
              <a:latin typeface="Arial"/>
            </a:endParaRPr>
          </a:p>
          <a:p>
            <a:pPr defTabSz="914400">
              <a:lnSpc>
                <a:spcPct val="100000"/>
              </a:lnSpc>
            </a:pPr>
            <a:endParaRPr lang="es-ES" sz="1800" b="0" strike="noStrike" spc="-1">
              <a:solidFill>
                <a:srgbClr val="000000"/>
              </a:solidFill>
              <a:latin typeface="Arial"/>
            </a:endParaRPr>
          </a:p>
          <a:p>
            <a:pPr defTabSz="914400">
              <a:lnSpc>
                <a:spcPct val="100000"/>
              </a:lnSpc>
            </a:pPr>
            <a:r>
              <a:rPr lang="es-ES" sz="1800" b="0" strike="noStrike" spc="-1">
                <a:solidFill>
                  <a:srgbClr val="582808"/>
                </a:solidFill>
                <a:latin typeface="Calibri"/>
              </a:rPr>
              <a:t>Madrid no es una excepción y la concentración que aquí se da de viviendas turísticas plantea dudas sobre su relación con el incremento de precio de las viviendas, la reducción de la oferta residencial o la posible desigualdad inmobiliaria que se da entre los distintos distritos y barrios de la ciudad.</a:t>
            </a:r>
            <a:endParaRPr lang="es-ES" sz="1800" b="0" strike="noStrike" spc="-1">
              <a:solidFill>
                <a:srgbClr val="000000"/>
              </a:solidFill>
              <a:latin typeface="Arial"/>
            </a:endParaRPr>
          </a:p>
          <a:p>
            <a:pPr defTabSz="914400">
              <a:lnSpc>
                <a:spcPct val="100000"/>
              </a:lnSpc>
            </a:pPr>
            <a:endParaRPr lang="es-ES" sz="1800" b="0" strike="noStrike" spc="-1">
              <a:solidFill>
                <a:srgbClr val="000000"/>
              </a:solidFill>
              <a:latin typeface="Arial"/>
            </a:endParaRPr>
          </a:p>
          <a:p>
            <a:pPr defTabSz="914400">
              <a:lnSpc>
                <a:spcPct val="100000"/>
              </a:lnSpc>
            </a:pPr>
            <a:r>
              <a:rPr lang="es-ES" sz="1800" b="0" strike="noStrike" spc="-1">
                <a:solidFill>
                  <a:srgbClr val="582808"/>
                </a:solidFill>
                <a:latin typeface="Calibri"/>
              </a:rPr>
              <a:t>Por ello, hemos querido centrar en estos puntos el análisis para poder objetivar esa relación más allá de las percepciones generales que puedan existir.</a:t>
            </a:r>
            <a:endParaRPr lang="es-ES" sz="1800" b="0" strike="noStrike" spc="-1">
              <a:solidFill>
                <a:srgbClr val="000000"/>
              </a:solidFill>
              <a:latin typeface="Arial"/>
            </a:endParaRPr>
          </a:p>
          <a:p>
            <a:pPr defTabSz="914400">
              <a:lnSpc>
                <a:spcPct val="100000"/>
              </a:lnSpc>
            </a:pPr>
            <a:endParaRPr lang="es-ES" sz="1800" b="0" strike="noStrike" spc="-1">
              <a:solidFill>
                <a:srgbClr val="000000"/>
              </a:solidFill>
              <a:latin typeface="Arial"/>
            </a:endParaRPr>
          </a:p>
          <a:p>
            <a:pPr defTabSz="914400">
              <a:lnSpc>
                <a:spcPct val="100000"/>
              </a:lnSpc>
            </a:pPr>
            <a:r>
              <a:rPr lang="es-ES" sz="1800" b="0" strike="noStrike" spc="-1">
                <a:solidFill>
                  <a:srgbClr val="582808"/>
                </a:solidFill>
                <a:latin typeface="Calibri"/>
              </a:rPr>
              <a:t>¿Existe realmente una relación entre la presión turística (medida según los datos de Airbnb) y el precio del metro cuadrado de las viviendas de los distintos distritos y barrios de Madrid?</a:t>
            </a:r>
            <a:endParaRPr lang="es-ES" sz="18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Rectángulo 5"/>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69" name="CuadroTexto 7"/>
          <p:cNvSpPr/>
          <p:nvPr/>
        </p:nvSpPr>
        <p:spPr>
          <a:xfrm>
            <a:off x="527760" y="479520"/>
            <a:ext cx="11135520" cy="6294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trike="noStrike" spc="-1" dirty="0">
                <a:solidFill>
                  <a:srgbClr val="582808"/>
                </a:solidFill>
                <a:latin typeface="Calibri Light"/>
              </a:rPr>
              <a:t>2. Planteamiento de la hipótesis</a:t>
            </a:r>
            <a:endParaRPr lang="es-ES" sz="3500" b="0" strike="noStrike" spc="-1" dirty="0">
              <a:solidFill>
                <a:srgbClr val="000000"/>
              </a:solidFill>
              <a:latin typeface="Arial"/>
            </a:endParaRPr>
          </a:p>
        </p:txBody>
      </p:sp>
      <p:sp>
        <p:nvSpPr>
          <p:cNvPr id="70" name="CuadroTexto 2"/>
          <p:cNvSpPr/>
          <p:nvPr/>
        </p:nvSpPr>
        <p:spPr>
          <a:xfrm>
            <a:off x="716400" y="1947960"/>
            <a:ext cx="10946880" cy="2832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0" strike="noStrike" spc="-1">
                <a:solidFill>
                  <a:srgbClr val="582808"/>
                </a:solidFill>
                <a:latin typeface="Calibri"/>
              </a:rPr>
              <a:t>Nuestra hipótesis es que los barrios en los que existe una mayor densidad de oferta turística tienden a presentar precios más elevados por metro cuadrado, tanto en los casos de venta como en los casos de alquiler convencional.</a:t>
            </a:r>
            <a:endParaRPr lang="es-ES" sz="1800" b="0" strike="noStrike" spc="-1">
              <a:solidFill>
                <a:srgbClr val="000000"/>
              </a:solidFill>
              <a:latin typeface="Arial"/>
            </a:endParaRPr>
          </a:p>
          <a:p>
            <a:pPr defTabSz="914400">
              <a:lnSpc>
                <a:spcPct val="100000"/>
              </a:lnSpc>
            </a:pPr>
            <a:endParaRPr lang="es-ES" sz="1800" b="0" strike="noStrike" spc="-1">
              <a:solidFill>
                <a:srgbClr val="000000"/>
              </a:solidFill>
              <a:latin typeface="Arial"/>
            </a:endParaRPr>
          </a:p>
          <a:p>
            <a:pPr defTabSz="914400">
              <a:lnSpc>
                <a:spcPct val="100000"/>
              </a:lnSpc>
            </a:pPr>
            <a:r>
              <a:rPr lang="es-ES" sz="1800" b="0" strike="noStrike" spc="-1">
                <a:solidFill>
                  <a:srgbClr val="582808"/>
                </a:solidFill>
                <a:latin typeface="Calibri"/>
              </a:rPr>
              <a:t>Esto lo fundamentamos principalmente en la idea de que el alquiler turístico compite directamente con el alquiler residencial, ya que los propietarios obtienen mayores beneficios con el primero y la oferta de este último disminuye considerablemente.</a:t>
            </a:r>
            <a:endParaRPr lang="es-ES" sz="1800" b="0" strike="noStrike" spc="-1">
              <a:solidFill>
                <a:srgbClr val="000000"/>
              </a:solidFill>
              <a:latin typeface="Arial"/>
            </a:endParaRPr>
          </a:p>
          <a:p>
            <a:pPr defTabSz="914400">
              <a:lnSpc>
                <a:spcPct val="100000"/>
              </a:lnSpc>
            </a:pPr>
            <a:endParaRPr lang="es-ES" sz="1800" b="0" strike="noStrike" spc="-1">
              <a:solidFill>
                <a:srgbClr val="000000"/>
              </a:solidFill>
              <a:latin typeface="Arial"/>
            </a:endParaRPr>
          </a:p>
          <a:p>
            <a:pPr defTabSz="914400">
              <a:lnSpc>
                <a:spcPct val="100000"/>
              </a:lnSpc>
            </a:pPr>
            <a:r>
              <a:rPr lang="es-ES" sz="1800" b="0" strike="noStrike" spc="-1">
                <a:solidFill>
                  <a:srgbClr val="582808"/>
                </a:solidFill>
                <a:latin typeface="Calibri"/>
              </a:rPr>
              <a:t>Con esto se tensiona adicionalmente el mercado inmobiliario debido a que una parte del parque de vivienda se desplaza del mercado residencial al turístico, haciendo que aumente el precio debido a la escasez, lo que se hace mucho más latente en los barrios donde la presencia de alquileres turísticos es más alta. </a:t>
            </a:r>
            <a:endParaRPr lang="es-ES" sz="1800" b="0" strike="noStrike" spc="-1">
              <a:solidFill>
                <a:srgbClr val="000000"/>
              </a:solidFill>
              <a:latin typeface="Arial"/>
            </a:endParaRPr>
          </a:p>
        </p:txBody>
      </p:sp>
      <p:pic>
        <p:nvPicPr>
          <p:cNvPr id="71" name="Imagen 6"/>
          <p:cNvPicPr/>
          <p:nvPr/>
        </p:nvPicPr>
        <p:blipFill>
          <a:blip r:embed="rId2"/>
          <a:stretch/>
        </p:blipFill>
        <p:spPr>
          <a:xfrm>
            <a:off x="10348920" y="479520"/>
            <a:ext cx="1314360" cy="988200"/>
          </a:xfrm>
          <a:prstGeom prst="rect">
            <a:avLst/>
          </a:prstGeom>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ectángulo 5"/>
          <p:cNvSpPr/>
          <p:nvPr/>
        </p:nvSpPr>
        <p:spPr>
          <a:xfrm>
            <a:off x="-180" y="72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73" name="CuadroTexto 7"/>
          <p:cNvSpPr/>
          <p:nvPr/>
        </p:nvSpPr>
        <p:spPr>
          <a:xfrm>
            <a:off x="527760" y="479520"/>
            <a:ext cx="11135520" cy="6294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trike="noStrike" spc="-1" dirty="0">
                <a:solidFill>
                  <a:srgbClr val="582808"/>
                </a:solidFill>
                <a:latin typeface="Calibri Light"/>
              </a:rPr>
              <a:t>3. Extracción y tratamiento de los datos</a:t>
            </a:r>
            <a:endParaRPr lang="es-ES" sz="3500" b="0" strike="noStrike" spc="-1" dirty="0">
              <a:solidFill>
                <a:srgbClr val="582808"/>
              </a:solidFill>
              <a:latin typeface="Arial"/>
            </a:endParaRPr>
          </a:p>
        </p:txBody>
      </p:sp>
      <p:sp>
        <p:nvSpPr>
          <p:cNvPr id="74" name="CuadroTexto 2"/>
          <p:cNvSpPr/>
          <p:nvPr/>
        </p:nvSpPr>
        <p:spPr>
          <a:xfrm>
            <a:off x="716400" y="1760760"/>
            <a:ext cx="10946880" cy="424586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0" strike="noStrike" spc="-1" dirty="0">
                <a:solidFill>
                  <a:srgbClr val="582808"/>
                </a:solidFill>
                <a:latin typeface="Calibri"/>
              </a:rPr>
              <a:t>Como primer paso para comenzar a tratar el problema planteado, trabajamos en la obtención de datos obtenidos de fuentes referencia en el sector inmobiliario, como son Airbnb e Idealista.</a:t>
            </a:r>
            <a:endParaRPr lang="es-ES" sz="1800" b="0" strike="noStrike" spc="-1" dirty="0">
              <a:solidFill>
                <a:srgbClr val="000000"/>
              </a:solidFill>
              <a:latin typeface="Arial"/>
            </a:endParaRPr>
          </a:p>
          <a:p>
            <a:pPr defTabSz="914400">
              <a:lnSpc>
                <a:spcPct val="100000"/>
              </a:lnSpc>
            </a:pPr>
            <a:endParaRPr lang="es-ES" sz="1800" b="0" strike="noStrike" spc="-1" dirty="0">
              <a:solidFill>
                <a:srgbClr val="000000"/>
              </a:solidFill>
              <a:latin typeface="Arial"/>
            </a:endParaRPr>
          </a:p>
          <a:p>
            <a:pPr defTabSz="914400">
              <a:lnSpc>
                <a:spcPct val="100000"/>
              </a:lnSpc>
            </a:pPr>
            <a:r>
              <a:rPr lang="es-ES" sz="1800" b="0" strike="noStrike" spc="-1" dirty="0">
                <a:solidFill>
                  <a:srgbClr val="582808"/>
                </a:solidFill>
                <a:latin typeface="Calibri"/>
              </a:rPr>
              <a:t>De esta última obtuvimos acceso a su API e intentamos obtener la información del precio de la vivienda haciendo uso de ella, pero nos topamos con una restricción que no permitía realizar una llamada con respuesta satisfactoria.</a:t>
            </a:r>
          </a:p>
          <a:p>
            <a:pPr defTabSz="914400">
              <a:lnSpc>
                <a:spcPct val="100000"/>
              </a:lnSpc>
            </a:pPr>
            <a:endParaRPr lang="es-ES" sz="1800" b="0" strike="noStrike" spc="-1" dirty="0">
              <a:solidFill>
                <a:srgbClr val="000000"/>
              </a:solidFill>
              <a:latin typeface="Arial"/>
            </a:endParaRPr>
          </a:p>
          <a:p>
            <a:pPr defTabSz="914400">
              <a:lnSpc>
                <a:spcPct val="100000"/>
              </a:lnSpc>
            </a:pPr>
            <a:r>
              <a:rPr lang="es-ES" sz="1800" b="0" strike="noStrike" spc="-1" dirty="0">
                <a:solidFill>
                  <a:srgbClr val="582808"/>
                </a:solidFill>
                <a:latin typeface="Calibri"/>
              </a:rPr>
              <a:t>A través de </a:t>
            </a:r>
            <a:r>
              <a:rPr lang="es-ES" sz="1800" b="0" strike="noStrike" spc="-1" dirty="0" err="1">
                <a:solidFill>
                  <a:srgbClr val="582808"/>
                </a:solidFill>
                <a:latin typeface="Calibri"/>
              </a:rPr>
              <a:t>Postman</a:t>
            </a:r>
            <a:r>
              <a:rPr lang="es-ES" sz="1800" b="0" strike="noStrike" spc="-1" dirty="0">
                <a:solidFill>
                  <a:srgbClr val="582808"/>
                </a:solidFill>
                <a:latin typeface="Calibri"/>
              </a:rPr>
              <a:t>, que es una herramienta que facilita la configuración y ejecución de llamadas a </a:t>
            </a:r>
            <a:r>
              <a:rPr lang="es-ES" sz="1800" b="0" strike="noStrike" spc="-1" dirty="0" err="1">
                <a:solidFill>
                  <a:srgbClr val="582808"/>
                </a:solidFill>
                <a:latin typeface="Calibri"/>
              </a:rPr>
              <a:t>APIs</a:t>
            </a:r>
            <a:r>
              <a:rPr lang="es-ES" sz="1800" b="0" strike="noStrike" spc="-1" dirty="0">
                <a:solidFill>
                  <a:srgbClr val="582808"/>
                </a:solidFill>
                <a:latin typeface="Calibri"/>
              </a:rPr>
              <a:t>, pudimos realizar alguna llamada exitosa, pero la limitación de resultados por llamada y el no poder automatizar estas llamadas desde el notebook, hizo inviable la recopilación de datos a través de esta vía.</a:t>
            </a:r>
            <a:endParaRPr lang="es-ES" sz="1800" b="0" strike="noStrike" spc="-1" dirty="0">
              <a:solidFill>
                <a:srgbClr val="000000"/>
              </a:solidFill>
              <a:latin typeface="Arial"/>
            </a:endParaRPr>
          </a:p>
          <a:p>
            <a:pPr defTabSz="914400">
              <a:lnSpc>
                <a:spcPct val="100000"/>
              </a:lnSpc>
            </a:pPr>
            <a:endParaRPr lang="es-ES" sz="1800" b="0" strike="noStrike" spc="-1" dirty="0">
              <a:solidFill>
                <a:srgbClr val="000000"/>
              </a:solidFill>
              <a:latin typeface="Arial"/>
            </a:endParaRPr>
          </a:p>
          <a:p>
            <a:pPr defTabSz="914400">
              <a:lnSpc>
                <a:spcPct val="100000"/>
              </a:lnSpc>
            </a:pPr>
            <a:r>
              <a:rPr lang="es-ES" sz="1800" b="0" strike="noStrike" spc="-1" dirty="0">
                <a:solidFill>
                  <a:srgbClr val="582808"/>
                </a:solidFill>
                <a:latin typeface="Calibri"/>
              </a:rPr>
              <a:t>Por lo que decidimos centrarnos en los datos de Airbnb y en la información sobre el precio del metro cuadrado que si se recoge en el portal de idealista (tanto para venta como para alquiler), y es obtenible desde su portal web.</a:t>
            </a:r>
            <a:endParaRPr lang="es-ES" sz="1800" b="0" strike="noStrike" spc="-1" dirty="0">
              <a:solidFill>
                <a:srgbClr val="000000"/>
              </a:solidFill>
              <a:latin typeface="Arial"/>
            </a:endParaRPr>
          </a:p>
          <a:p>
            <a:pPr defTabSz="914400">
              <a:lnSpc>
                <a:spcPct val="100000"/>
              </a:lnSpc>
            </a:pPr>
            <a:endParaRPr lang="es-ES" sz="1800" b="0" strike="noStrike" spc="-1" dirty="0">
              <a:solidFill>
                <a:srgbClr val="000000"/>
              </a:solidFill>
              <a:latin typeface="Arial"/>
            </a:endParaRPr>
          </a:p>
          <a:p>
            <a:pPr defTabSz="914400">
              <a:lnSpc>
                <a:spcPct val="100000"/>
              </a:lnSpc>
            </a:pPr>
            <a:endParaRPr lang="es-ES" sz="1800" b="0" strike="noStrike" spc="-1" dirty="0">
              <a:solidFill>
                <a:srgbClr val="000000"/>
              </a:solidFill>
              <a:latin typeface="Arial"/>
            </a:endParaRPr>
          </a:p>
          <a:p>
            <a:pPr defTabSz="914400">
              <a:lnSpc>
                <a:spcPct val="100000"/>
              </a:lnSpc>
            </a:pPr>
            <a:endParaRPr lang="es-ES" sz="1800" b="0" strike="noStrike" spc="-1" dirty="0">
              <a:solidFill>
                <a:srgbClr val="000000"/>
              </a:solidFill>
              <a:latin typeface="Arial"/>
            </a:endParaRPr>
          </a:p>
        </p:txBody>
      </p:sp>
      <p:pic>
        <p:nvPicPr>
          <p:cNvPr id="6" name="Marcador de contenido 6">
            <a:extLst>
              <a:ext uri="{FF2B5EF4-FFF2-40B4-BE49-F238E27FC236}">
                <a16:creationId xmlns:a16="http://schemas.microsoft.com/office/drawing/2014/main" id="{6FB3E1CF-970A-4B72-9245-AF05FD2F00C1}"/>
              </a:ext>
            </a:extLst>
          </p:cNvPr>
          <p:cNvPicPr>
            <a:picLocks noGrp="1" noChangeAspect="1"/>
          </p:cNvPicPr>
          <p:nvPr>
            <p:ph/>
          </p:nvPr>
        </p:nvPicPr>
        <p:blipFill>
          <a:blip r:embed="rId2" cstate="print">
            <a:extLst>
              <a:ext uri="{28A0092B-C50C-407E-A947-70E740481C1C}">
                <a14:useLocalDpi xmlns:a14="http://schemas.microsoft.com/office/drawing/2010/main" val="0"/>
              </a:ext>
            </a:extLst>
          </a:blip>
          <a:stretch>
            <a:fillRect/>
          </a:stretch>
        </p:blipFill>
        <p:spPr>
          <a:xfrm>
            <a:off x="10598040" y="25985"/>
            <a:ext cx="1065240" cy="1740143"/>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ángulo 1"/>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es-ES" sz="1800" b="0" strike="noStrike" spc="-1">
              <a:solidFill>
                <a:schemeClr val="lt1"/>
              </a:solidFill>
              <a:latin typeface="Calibri"/>
            </a:endParaRPr>
          </a:p>
        </p:txBody>
      </p:sp>
      <p:sp>
        <p:nvSpPr>
          <p:cNvPr id="77" name="CuadroTexto 4"/>
          <p:cNvSpPr/>
          <p:nvPr/>
        </p:nvSpPr>
        <p:spPr>
          <a:xfrm>
            <a:off x="527760" y="479520"/>
            <a:ext cx="11135520" cy="6294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trike="noStrike" spc="-1" dirty="0">
                <a:solidFill>
                  <a:srgbClr val="582808"/>
                </a:solidFill>
                <a:latin typeface="Calibri Light"/>
              </a:rPr>
              <a:t>3. Extracción y tratamiento de los datos</a:t>
            </a:r>
            <a:endParaRPr lang="es-ES" sz="3500" b="0" strike="noStrike" spc="-1" dirty="0">
              <a:solidFill>
                <a:srgbClr val="582808"/>
              </a:solidFill>
              <a:latin typeface="Arial"/>
            </a:endParaRPr>
          </a:p>
        </p:txBody>
      </p:sp>
      <p:sp>
        <p:nvSpPr>
          <p:cNvPr id="78" name="CuadroTexto 5"/>
          <p:cNvSpPr/>
          <p:nvPr/>
        </p:nvSpPr>
        <p:spPr>
          <a:xfrm>
            <a:off x="716400" y="1760760"/>
            <a:ext cx="10946880" cy="47998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0" strike="noStrike" spc="-1" dirty="0">
                <a:solidFill>
                  <a:srgbClr val="582808"/>
                </a:solidFill>
                <a:latin typeface="Calibri"/>
              </a:rPr>
              <a:t>Una vez recopilada la información y cargada en distintos </a:t>
            </a:r>
            <a:r>
              <a:rPr lang="es-ES" sz="1800" b="0" strike="noStrike" spc="-1" dirty="0" err="1">
                <a:solidFill>
                  <a:srgbClr val="582808"/>
                </a:solidFill>
                <a:latin typeface="Calibri"/>
              </a:rPr>
              <a:t>DataFrames</a:t>
            </a:r>
            <a:r>
              <a:rPr lang="es-ES" sz="1800" b="0" strike="noStrike" spc="-1" dirty="0">
                <a:solidFill>
                  <a:srgbClr val="582808"/>
                </a:solidFill>
                <a:latin typeface="Calibri"/>
              </a:rPr>
              <a:t>, comenzamos con el análisis y tratamiento de los datos.</a:t>
            </a:r>
            <a:endParaRPr lang="es-ES" sz="1800" b="0" strike="noStrike" spc="-1" dirty="0">
              <a:solidFill>
                <a:srgbClr val="000000"/>
              </a:solidFill>
              <a:latin typeface="Arial"/>
            </a:endParaRPr>
          </a:p>
          <a:p>
            <a:pPr defTabSz="914400">
              <a:lnSpc>
                <a:spcPct val="100000"/>
              </a:lnSpc>
            </a:pPr>
            <a:endParaRPr lang="es-ES" sz="1800" b="0" strike="noStrike" spc="-1" dirty="0">
              <a:solidFill>
                <a:srgbClr val="000000"/>
              </a:solidFill>
              <a:latin typeface="Arial"/>
            </a:endParaRPr>
          </a:p>
          <a:p>
            <a:pPr defTabSz="914400">
              <a:lnSpc>
                <a:spcPct val="100000"/>
              </a:lnSpc>
            </a:pPr>
            <a:r>
              <a:rPr lang="es-ES" sz="1800" b="0" strike="noStrike" spc="-1" dirty="0">
                <a:solidFill>
                  <a:srgbClr val="582808"/>
                </a:solidFill>
                <a:latin typeface="Calibri"/>
              </a:rPr>
              <a:t>En primer lugar, identificamos las columnas relevantes para nuestro estudio y nos quedamos con ellas, descartando todas aquellas irrelevantes para nuestro análisis.</a:t>
            </a:r>
          </a:p>
          <a:p>
            <a:pPr defTabSz="914400">
              <a:lnSpc>
                <a:spcPct val="100000"/>
              </a:lnSpc>
            </a:pPr>
            <a:endParaRPr lang="es-ES" sz="1800" b="0" strike="noStrike" spc="-1" dirty="0">
              <a:solidFill>
                <a:srgbClr val="000000"/>
              </a:solidFill>
              <a:latin typeface="Arial"/>
            </a:endParaRPr>
          </a:p>
          <a:p>
            <a:pPr defTabSz="914400">
              <a:lnSpc>
                <a:spcPct val="100000"/>
              </a:lnSpc>
            </a:pPr>
            <a:r>
              <a:rPr lang="es-ES" sz="1800" b="0" strike="noStrike" spc="-1" dirty="0">
                <a:solidFill>
                  <a:srgbClr val="582808"/>
                </a:solidFill>
                <a:latin typeface="Calibri"/>
              </a:rPr>
              <a:t>Una vez aplicado este filtro a los </a:t>
            </a:r>
            <a:r>
              <a:rPr lang="es-ES" sz="1800" b="0" strike="noStrike" spc="-1" dirty="0" err="1">
                <a:solidFill>
                  <a:srgbClr val="582808"/>
                </a:solidFill>
                <a:latin typeface="Calibri"/>
              </a:rPr>
              <a:t>datasets</a:t>
            </a:r>
            <a:r>
              <a:rPr lang="es-ES" sz="1800" b="0" strike="noStrike" spc="-1" dirty="0">
                <a:solidFill>
                  <a:srgbClr val="582808"/>
                </a:solidFill>
                <a:latin typeface="Calibri"/>
              </a:rPr>
              <a:t> con las columnas que queremos, agrupamos los distintos </a:t>
            </a:r>
            <a:r>
              <a:rPr lang="es-ES" sz="1800" b="0" strike="noStrike" spc="-1" dirty="0" err="1">
                <a:solidFill>
                  <a:srgbClr val="582808"/>
                </a:solidFill>
                <a:latin typeface="Calibri"/>
              </a:rPr>
              <a:t>DataFrames</a:t>
            </a:r>
            <a:r>
              <a:rPr lang="es-ES" sz="1800" b="0" strike="noStrike" spc="-1" dirty="0">
                <a:solidFill>
                  <a:srgbClr val="582808"/>
                </a:solidFill>
                <a:latin typeface="Calibri"/>
              </a:rPr>
              <a:t> en uno sólo, ya que la información la obtuvimos por trimestres.</a:t>
            </a:r>
            <a:endParaRPr lang="es-ES" sz="1800" b="0" strike="noStrike" spc="-1" dirty="0">
              <a:solidFill>
                <a:srgbClr val="000000"/>
              </a:solidFill>
              <a:latin typeface="Arial"/>
            </a:endParaRPr>
          </a:p>
          <a:p>
            <a:pPr defTabSz="914400">
              <a:lnSpc>
                <a:spcPct val="100000"/>
              </a:lnSpc>
            </a:pPr>
            <a:endParaRPr lang="es-ES" sz="1800" b="0" strike="noStrike" spc="-1" dirty="0">
              <a:solidFill>
                <a:srgbClr val="000000"/>
              </a:solidFill>
              <a:latin typeface="Arial"/>
            </a:endParaRPr>
          </a:p>
          <a:p>
            <a:pPr defTabSz="914400">
              <a:lnSpc>
                <a:spcPct val="100000"/>
              </a:lnSpc>
            </a:pPr>
            <a:r>
              <a:rPr lang="es-ES" sz="1800" b="0" strike="noStrike" spc="-1" dirty="0">
                <a:solidFill>
                  <a:srgbClr val="582808"/>
                </a:solidFill>
                <a:latin typeface="Calibri"/>
              </a:rPr>
              <a:t>El siguiente paso es analizar los valores nulos que podían presentar los datos, por suerte estos sólo estaban presentes en 3 columnas, de las cuáles dos eran poco o nada influyentes para nuestro análisis, por lo que pudimos sustituir los valores nulos por medidas de tendencia como la mediana o la moda según el caso.</a:t>
            </a:r>
            <a:endParaRPr lang="es-ES" sz="1800" b="0" strike="noStrike" spc="-1" dirty="0">
              <a:solidFill>
                <a:srgbClr val="000000"/>
              </a:solidFill>
              <a:latin typeface="Arial"/>
            </a:endParaRPr>
          </a:p>
          <a:p>
            <a:pPr defTabSz="914400">
              <a:lnSpc>
                <a:spcPct val="100000"/>
              </a:lnSpc>
            </a:pPr>
            <a:endParaRPr lang="es-ES" sz="1800" b="0" strike="noStrike" spc="-1" dirty="0">
              <a:solidFill>
                <a:srgbClr val="000000"/>
              </a:solidFill>
              <a:latin typeface="Arial"/>
            </a:endParaRPr>
          </a:p>
          <a:p>
            <a:pPr defTabSz="914400">
              <a:lnSpc>
                <a:spcPct val="100000"/>
              </a:lnSpc>
            </a:pPr>
            <a:r>
              <a:rPr lang="es-ES" sz="1800" b="0" strike="noStrike" spc="-1" dirty="0">
                <a:solidFill>
                  <a:srgbClr val="582808"/>
                </a:solidFill>
                <a:latin typeface="Calibri"/>
              </a:rPr>
              <a:t>La tercera columna con valores nulos era la relativa al precio, muy relevante para nuestro análisis, así que gestionamos con más detalle el tratamiento de sus nulos y aplicamos a los valores nulos las medias de los precios de cada barrio en el que se encontrasen, para que el nuevo valor tuviese mayor coherencia.</a:t>
            </a:r>
            <a:endParaRPr lang="es-ES" sz="1800" b="0" strike="noStrike" spc="-1" dirty="0">
              <a:solidFill>
                <a:srgbClr val="000000"/>
              </a:solidFill>
              <a:latin typeface="Arial"/>
            </a:endParaRPr>
          </a:p>
          <a:p>
            <a:pPr defTabSz="914400">
              <a:lnSpc>
                <a:spcPct val="100000"/>
              </a:lnSpc>
            </a:pPr>
            <a:endParaRPr lang="es-ES" sz="1800" b="0" strike="noStrike" spc="-1" dirty="0">
              <a:solidFill>
                <a:srgbClr val="000000"/>
              </a:solidFill>
              <a:latin typeface="Arial"/>
            </a:endParaRPr>
          </a:p>
        </p:txBody>
      </p:sp>
      <p:pic>
        <p:nvPicPr>
          <p:cNvPr id="9" name="Marcador de contenido 6">
            <a:extLst>
              <a:ext uri="{FF2B5EF4-FFF2-40B4-BE49-F238E27FC236}">
                <a16:creationId xmlns:a16="http://schemas.microsoft.com/office/drawing/2014/main" id="{54C7336E-B1CB-40B5-9B80-3C5FB48A2B29}"/>
              </a:ext>
            </a:extLst>
          </p:cNvPr>
          <p:cNvPicPr>
            <a:picLocks noGrp="1" noChangeAspect="1"/>
          </p:cNvPicPr>
          <p:nvPr>
            <p:ph/>
          </p:nvPr>
        </p:nvPicPr>
        <p:blipFill>
          <a:blip r:embed="rId2" cstate="print">
            <a:extLst>
              <a:ext uri="{28A0092B-C50C-407E-A947-70E740481C1C}">
                <a14:useLocalDpi xmlns:a14="http://schemas.microsoft.com/office/drawing/2010/main" val="0"/>
              </a:ext>
            </a:extLst>
          </a:blip>
          <a:stretch>
            <a:fillRect/>
          </a:stretch>
        </p:blipFill>
        <p:spPr>
          <a:xfrm>
            <a:off x="10598040" y="25117"/>
            <a:ext cx="1065240" cy="1740143"/>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ángulo 5"/>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81" name="CuadroTexto 7"/>
          <p:cNvSpPr/>
          <p:nvPr/>
        </p:nvSpPr>
        <p:spPr>
          <a:xfrm>
            <a:off x="527760" y="479520"/>
            <a:ext cx="11135520" cy="6294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trike="noStrike" spc="-1" dirty="0">
                <a:solidFill>
                  <a:srgbClr val="582808"/>
                </a:solidFill>
                <a:latin typeface="Calibri Light"/>
              </a:rPr>
              <a:t>4. Análisis de los datos</a:t>
            </a:r>
            <a:endParaRPr lang="es-ES" sz="3500" b="0" strike="noStrike" spc="-1" dirty="0">
              <a:solidFill>
                <a:srgbClr val="582808"/>
              </a:solidFill>
              <a:latin typeface="Arial"/>
            </a:endParaRPr>
          </a:p>
        </p:txBody>
      </p:sp>
      <p:sp>
        <p:nvSpPr>
          <p:cNvPr id="82" name="CuadroTexto 2"/>
          <p:cNvSpPr/>
          <p:nvPr/>
        </p:nvSpPr>
        <p:spPr>
          <a:xfrm>
            <a:off x="527760" y="5424840"/>
            <a:ext cx="11135520" cy="92187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0" strike="noStrike" spc="-1" dirty="0">
                <a:solidFill>
                  <a:srgbClr val="582808"/>
                </a:solidFill>
                <a:latin typeface="Calibri"/>
              </a:rPr>
              <a:t>En estas gráficas podemos observar que el número de anuncios que aparecen en Airbnb para Madrid se concentran principalmente en los distritos Centro, Salamanca y Tetuán, mientras que los distritos de Barajas, Villa de Vallecas o Vicálvaro apenas tienen presencia en la plataforma.</a:t>
            </a:r>
            <a:endParaRPr lang="es-ES" sz="1800" b="0" strike="noStrike" spc="-1" dirty="0">
              <a:solidFill>
                <a:srgbClr val="000000"/>
              </a:solidFill>
              <a:latin typeface="Arial"/>
            </a:endParaRPr>
          </a:p>
        </p:txBody>
      </p:sp>
      <p:pic>
        <p:nvPicPr>
          <p:cNvPr id="83" name="Imagen 6"/>
          <p:cNvPicPr/>
          <p:nvPr/>
        </p:nvPicPr>
        <p:blipFill>
          <a:blip r:embed="rId3"/>
          <a:stretch/>
        </p:blipFill>
        <p:spPr>
          <a:xfrm>
            <a:off x="10598040" y="479520"/>
            <a:ext cx="1065240" cy="801000"/>
          </a:xfrm>
          <a:prstGeom prst="rect">
            <a:avLst/>
          </a:prstGeom>
          <a:ln w="0">
            <a:noFill/>
          </a:ln>
        </p:spPr>
      </p:pic>
      <p:pic>
        <p:nvPicPr>
          <p:cNvPr id="84" name="Imagen 8"/>
          <p:cNvPicPr/>
          <p:nvPr/>
        </p:nvPicPr>
        <p:blipFill>
          <a:blip r:embed="rId4"/>
          <a:stretch/>
        </p:blipFill>
        <p:spPr>
          <a:xfrm>
            <a:off x="527760" y="1380960"/>
            <a:ext cx="5287680" cy="3772800"/>
          </a:xfrm>
          <a:prstGeom prst="rect">
            <a:avLst/>
          </a:prstGeom>
          <a:ln w="0">
            <a:noFill/>
          </a:ln>
        </p:spPr>
      </p:pic>
      <p:pic>
        <p:nvPicPr>
          <p:cNvPr id="85" name="Imagen 14"/>
          <p:cNvPicPr/>
          <p:nvPr/>
        </p:nvPicPr>
        <p:blipFill>
          <a:blip r:embed="rId5"/>
          <a:stretch/>
        </p:blipFill>
        <p:spPr>
          <a:xfrm>
            <a:off x="6375600" y="1380960"/>
            <a:ext cx="5287680" cy="3772800"/>
          </a:xfrm>
          <a:prstGeom prst="rect">
            <a:avLst/>
          </a:prstGeom>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Rectángulo 5"/>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87" name="CuadroTexto 7"/>
          <p:cNvSpPr/>
          <p:nvPr/>
        </p:nvSpPr>
        <p:spPr>
          <a:xfrm>
            <a:off x="527760" y="479520"/>
            <a:ext cx="11135520" cy="6294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pc="-1" dirty="0">
                <a:solidFill>
                  <a:srgbClr val="582808"/>
                </a:solidFill>
                <a:latin typeface="Calibri Light"/>
              </a:rPr>
              <a:t>4</a:t>
            </a:r>
            <a:r>
              <a:rPr lang="es-ES" sz="3500" b="1" strike="noStrike" spc="-1" dirty="0">
                <a:solidFill>
                  <a:srgbClr val="582808"/>
                </a:solidFill>
                <a:latin typeface="Calibri Light"/>
              </a:rPr>
              <a:t>. Análisis de los datos</a:t>
            </a:r>
            <a:endParaRPr lang="es-ES" sz="3500" b="0" strike="noStrike" spc="-1" dirty="0">
              <a:solidFill>
                <a:srgbClr val="582808"/>
              </a:solidFill>
              <a:latin typeface="Arial"/>
            </a:endParaRPr>
          </a:p>
        </p:txBody>
      </p:sp>
      <p:sp>
        <p:nvSpPr>
          <p:cNvPr id="88" name="CuadroTexto 2"/>
          <p:cNvSpPr/>
          <p:nvPr/>
        </p:nvSpPr>
        <p:spPr>
          <a:xfrm>
            <a:off x="527760" y="5424840"/>
            <a:ext cx="11135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0" strike="noStrike" spc="-1">
                <a:solidFill>
                  <a:srgbClr val="582808"/>
                </a:solidFill>
                <a:latin typeface="Calibri"/>
              </a:rPr>
              <a:t>Como indicábamos al inicio, el número de anuncios está directamente relacionado con el precio del metro cuadrado para venta y alquiler que tienen las viviendas de los barrios y distritos más tensionados.</a:t>
            </a:r>
            <a:endParaRPr lang="es-ES" sz="1800" b="0" strike="noStrike" spc="-1">
              <a:solidFill>
                <a:srgbClr val="000000"/>
              </a:solidFill>
              <a:latin typeface="Arial"/>
            </a:endParaRPr>
          </a:p>
        </p:txBody>
      </p:sp>
      <p:pic>
        <p:nvPicPr>
          <p:cNvPr id="89" name="Imagen 6"/>
          <p:cNvPicPr/>
          <p:nvPr/>
        </p:nvPicPr>
        <p:blipFill>
          <a:blip r:embed="rId3"/>
          <a:stretch/>
        </p:blipFill>
        <p:spPr>
          <a:xfrm>
            <a:off x="10598040" y="479520"/>
            <a:ext cx="1065240" cy="801000"/>
          </a:xfrm>
          <a:prstGeom prst="rect">
            <a:avLst/>
          </a:prstGeom>
          <a:ln w="0">
            <a:noFill/>
          </a:ln>
        </p:spPr>
      </p:pic>
      <p:pic>
        <p:nvPicPr>
          <p:cNvPr id="90" name="Imagen 9"/>
          <p:cNvPicPr/>
          <p:nvPr/>
        </p:nvPicPr>
        <p:blipFill>
          <a:blip r:embed="rId4"/>
          <a:stretch/>
        </p:blipFill>
        <p:spPr>
          <a:xfrm>
            <a:off x="452160" y="1380960"/>
            <a:ext cx="5287680" cy="3772800"/>
          </a:xfrm>
          <a:prstGeom prst="rect">
            <a:avLst/>
          </a:prstGeom>
          <a:ln w="0">
            <a:noFill/>
          </a:ln>
        </p:spPr>
      </p:pic>
      <p:pic>
        <p:nvPicPr>
          <p:cNvPr id="91" name="Imagen 11"/>
          <p:cNvPicPr/>
          <p:nvPr/>
        </p:nvPicPr>
        <p:blipFill>
          <a:blip r:embed="rId5"/>
          <a:stretch/>
        </p:blipFill>
        <p:spPr>
          <a:xfrm>
            <a:off x="6375600" y="1380960"/>
            <a:ext cx="5287680" cy="3772800"/>
          </a:xfrm>
          <a:prstGeom prst="rect">
            <a:avLst/>
          </a:prstGeom>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Rectángulo 5"/>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93" name="CuadroTexto 7"/>
          <p:cNvSpPr/>
          <p:nvPr/>
        </p:nvSpPr>
        <p:spPr>
          <a:xfrm>
            <a:off x="527760" y="479520"/>
            <a:ext cx="11135520" cy="6294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pc="-1" dirty="0">
                <a:solidFill>
                  <a:srgbClr val="582808"/>
                </a:solidFill>
                <a:latin typeface="Calibri Light"/>
              </a:rPr>
              <a:t>4</a:t>
            </a:r>
            <a:r>
              <a:rPr lang="es-ES" sz="3500" b="1" strike="noStrike" spc="-1" dirty="0">
                <a:solidFill>
                  <a:srgbClr val="582808"/>
                </a:solidFill>
                <a:latin typeface="Calibri Light"/>
              </a:rPr>
              <a:t>. Análisis de los datos</a:t>
            </a:r>
            <a:endParaRPr lang="es-ES" sz="3500" b="0" strike="noStrike" spc="-1" dirty="0">
              <a:solidFill>
                <a:srgbClr val="582808"/>
              </a:solidFill>
              <a:latin typeface="Arial"/>
            </a:endParaRPr>
          </a:p>
        </p:txBody>
      </p:sp>
      <p:sp>
        <p:nvSpPr>
          <p:cNvPr id="94" name="CuadroTexto 2"/>
          <p:cNvSpPr/>
          <p:nvPr/>
        </p:nvSpPr>
        <p:spPr>
          <a:xfrm>
            <a:off x="527760" y="5424840"/>
            <a:ext cx="1113552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1800" b="0" strike="noStrike" spc="-1">
                <a:solidFill>
                  <a:srgbClr val="582808"/>
                </a:solidFill>
                <a:latin typeface="Calibri"/>
              </a:rPr>
              <a:t>Así mismo hemos analizado la distribución que se da según el tipo de alojamiento y dónde se concentran más en el mapa de Madrid, observando una gran concentración y las zonas centrales y donde prevalece el alquiler de viviendas completas por encima del de habitaciones privadas o compartidas.</a:t>
            </a:r>
            <a:endParaRPr lang="es-ES" sz="1800" b="0" strike="noStrike" spc="-1">
              <a:solidFill>
                <a:srgbClr val="000000"/>
              </a:solidFill>
              <a:latin typeface="Arial"/>
            </a:endParaRPr>
          </a:p>
        </p:txBody>
      </p:sp>
      <p:pic>
        <p:nvPicPr>
          <p:cNvPr id="95" name="Imagen 6"/>
          <p:cNvPicPr/>
          <p:nvPr/>
        </p:nvPicPr>
        <p:blipFill>
          <a:blip r:embed="rId2"/>
          <a:stretch/>
        </p:blipFill>
        <p:spPr>
          <a:xfrm>
            <a:off x="10598040" y="479520"/>
            <a:ext cx="1065240" cy="801000"/>
          </a:xfrm>
          <a:prstGeom prst="rect">
            <a:avLst/>
          </a:prstGeom>
          <a:ln w="0">
            <a:noFill/>
          </a:ln>
        </p:spPr>
      </p:pic>
      <p:pic>
        <p:nvPicPr>
          <p:cNvPr id="96" name="Imagen 3"/>
          <p:cNvPicPr/>
          <p:nvPr/>
        </p:nvPicPr>
        <p:blipFill>
          <a:blip r:embed="rId3"/>
          <a:stretch/>
        </p:blipFill>
        <p:spPr>
          <a:xfrm>
            <a:off x="527760" y="1380960"/>
            <a:ext cx="5287680" cy="3772800"/>
          </a:xfrm>
          <a:prstGeom prst="rect">
            <a:avLst/>
          </a:prstGeom>
          <a:ln w="0">
            <a:noFill/>
          </a:ln>
        </p:spPr>
      </p:pic>
      <p:pic>
        <p:nvPicPr>
          <p:cNvPr id="97" name="Imagen 8"/>
          <p:cNvPicPr/>
          <p:nvPr/>
        </p:nvPicPr>
        <p:blipFill>
          <a:blip r:embed="rId4"/>
          <a:stretch/>
        </p:blipFill>
        <p:spPr>
          <a:xfrm>
            <a:off x="6375600" y="1380960"/>
            <a:ext cx="5287680" cy="3772800"/>
          </a:xfrm>
          <a:prstGeom prst="rect">
            <a:avLst/>
          </a:prstGeom>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5">
            <a:extLst>
              <a:ext uri="{FF2B5EF4-FFF2-40B4-BE49-F238E27FC236}">
                <a16:creationId xmlns:a16="http://schemas.microsoft.com/office/drawing/2014/main" id="{FEAC7CB0-5F8E-A86C-4F31-EAC92F88389C}"/>
              </a:ext>
            </a:extLst>
          </p:cNvPr>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dirty="0">
              <a:solidFill>
                <a:schemeClr val="lt1"/>
              </a:solidFill>
              <a:latin typeface="Calibri"/>
            </a:endParaRPr>
          </a:p>
        </p:txBody>
      </p:sp>
      <p:sp>
        <p:nvSpPr>
          <p:cNvPr id="5" name="CuadroTexto 4">
            <a:extLst>
              <a:ext uri="{FF2B5EF4-FFF2-40B4-BE49-F238E27FC236}">
                <a16:creationId xmlns:a16="http://schemas.microsoft.com/office/drawing/2014/main" id="{C4E6C1ED-F7A8-6776-5C21-E976C13303CC}"/>
              </a:ext>
            </a:extLst>
          </p:cNvPr>
          <p:cNvSpPr txBox="1"/>
          <p:nvPr/>
        </p:nvSpPr>
        <p:spPr>
          <a:xfrm>
            <a:off x="468086" y="239485"/>
            <a:ext cx="11016344" cy="2308324"/>
          </a:xfrm>
          <a:prstGeom prst="rect">
            <a:avLst/>
          </a:prstGeom>
          <a:noFill/>
        </p:spPr>
        <p:txBody>
          <a:bodyPr wrap="square" rtlCol="0">
            <a:spAutoFit/>
          </a:bodyPr>
          <a:lstStyle/>
          <a:p>
            <a:r>
              <a:rPr lang="es-ES" dirty="0"/>
              <a:t>Se analizó la variable </a:t>
            </a:r>
            <a:r>
              <a:rPr lang="es-ES" b="1" dirty="0" err="1"/>
              <a:t>minimum_nights</a:t>
            </a:r>
            <a:r>
              <a:rPr lang="es-ES" dirty="0"/>
              <a:t> (noches mínimas exigidas para reservar) para explorar posibles patrones por distrito: primero con un histograma (acotado a </a:t>
            </a:r>
            <a:r>
              <a:rPr lang="es-ES" b="1" dirty="0"/>
              <a:t>1–30 noches</a:t>
            </a:r>
            <a:r>
              <a:rPr lang="es-ES" dirty="0"/>
              <a:t> para interpretar mejor la distribución) y después con un </a:t>
            </a:r>
            <a:r>
              <a:rPr lang="es-ES" b="1" dirty="0" err="1"/>
              <a:t>scatter</a:t>
            </a:r>
            <a:r>
              <a:rPr lang="es-ES" dirty="0"/>
              <a:t> por latitud/longitud categorizando las estancias (</a:t>
            </a:r>
            <a:r>
              <a:rPr lang="es-ES" b="1" dirty="0"/>
              <a:t>1–3</a:t>
            </a:r>
            <a:r>
              <a:rPr lang="es-ES" dirty="0"/>
              <a:t>, </a:t>
            </a:r>
            <a:r>
              <a:rPr lang="es-ES" b="1" dirty="0"/>
              <a:t>4–7</a:t>
            </a:r>
            <a:r>
              <a:rPr lang="es-ES" dirty="0"/>
              <a:t>, </a:t>
            </a:r>
            <a:r>
              <a:rPr lang="es-ES" b="1" dirty="0"/>
              <a:t>8+</a:t>
            </a:r>
            <a:r>
              <a:rPr lang="es-ES" dirty="0"/>
              <a:t>). En conjunto, </a:t>
            </a:r>
            <a:r>
              <a:rPr lang="es-ES" b="1" dirty="0"/>
              <a:t>no se observa una relación directa</a:t>
            </a:r>
            <a:r>
              <a:rPr lang="es-ES" dirty="0"/>
              <a:t> entre las noches mínimas y el </a:t>
            </a:r>
            <a:r>
              <a:rPr lang="es-ES" b="1" dirty="0"/>
              <a:t>precio medio del m²</a:t>
            </a:r>
            <a:r>
              <a:rPr lang="es-ES" dirty="0"/>
              <a:t> por distrito; sin embargo, sí aparece un patrón consistente: los distritos con </a:t>
            </a:r>
            <a:r>
              <a:rPr lang="es-ES" b="1" dirty="0"/>
              <a:t>mayor concentración de anuncios de Airbnb</a:t>
            </a:r>
            <a:r>
              <a:rPr lang="es-ES" dirty="0"/>
              <a:t> coinciden con los que acumulan más alojamientos de </a:t>
            </a:r>
            <a:r>
              <a:rPr lang="es-ES" b="1" dirty="0"/>
              <a:t>estancia mínima baja (especialmente 1 noche)</a:t>
            </a:r>
            <a:r>
              <a:rPr lang="es-ES" dirty="0"/>
              <a:t>, lo que sugiere una mayor orientación a estancias cortas y rotación turística en zonas como </a:t>
            </a:r>
            <a:r>
              <a:rPr lang="es-ES" b="1" dirty="0"/>
              <a:t>Centro</a:t>
            </a:r>
            <a:r>
              <a:rPr lang="es-ES" dirty="0"/>
              <a:t> y otros distritos de alta demanda (p. ej., </a:t>
            </a:r>
            <a:r>
              <a:rPr lang="es-ES" b="1" dirty="0"/>
              <a:t>Salamanca, Chamberí, Retiro, Tetuán</a:t>
            </a:r>
            <a:r>
              <a:rPr lang="es-ES" dirty="0"/>
              <a:t>).</a:t>
            </a:r>
            <a:endParaRPr lang="es-CL" dirty="0"/>
          </a:p>
        </p:txBody>
      </p:sp>
    </p:spTree>
    <p:extLst>
      <p:ext uri="{BB962C8B-B14F-4D97-AF65-F5344CB8AC3E}">
        <p14:creationId xmlns:p14="http://schemas.microsoft.com/office/powerpoint/2010/main" val="2638113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ángulo 5"/>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99" name="CuadroTexto 7"/>
          <p:cNvSpPr/>
          <p:nvPr/>
        </p:nvSpPr>
        <p:spPr>
          <a:xfrm>
            <a:off x="527760" y="479520"/>
            <a:ext cx="11135520" cy="6294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pc="-1" dirty="0">
                <a:solidFill>
                  <a:srgbClr val="582808"/>
                </a:solidFill>
                <a:latin typeface="Calibri Light"/>
              </a:rPr>
              <a:t>4</a:t>
            </a:r>
            <a:r>
              <a:rPr lang="es-ES" sz="3500" b="1" strike="noStrike" spc="-1" dirty="0">
                <a:solidFill>
                  <a:srgbClr val="582808"/>
                </a:solidFill>
                <a:latin typeface="Calibri Light"/>
              </a:rPr>
              <a:t>. Análisis de los datos</a:t>
            </a:r>
            <a:endParaRPr lang="es-ES" sz="3500" b="0" strike="noStrike" spc="-1" dirty="0">
              <a:solidFill>
                <a:srgbClr val="582808"/>
              </a:solidFill>
              <a:latin typeface="Arial"/>
            </a:endParaRPr>
          </a:p>
        </p:txBody>
      </p:sp>
      <p:sp>
        <p:nvSpPr>
          <p:cNvPr id="100" name="CuadroTexto 2"/>
          <p:cNvSpPr/>
          <p:nvPr/>
        </p:nvSpPr>
        <p:spPr>
          <a:xfrm>
            <a:off x="7777080" y="2413440"/>
            <a:ext cx="3886200" cy="200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s-ES" sz="1800" b="1" strike="noStrike" spc="-1">
                <a:solidFill>
                  <a:srgbClr val="582808"/>
                </a:solidFill>
                <a:latin typeface="Calibri"/>
              </a:rPr>
              <a:t>La tabla por distrito muestra una concentración muy marcada de anuncios en Centro, que acumula aproximadamente 4 de cada 10 anuncios del Dataset (≈40% del total) y una proporción similar de anuncios activos (≈41%).</a:t>
            </a:r>
            <a:endParaRPr lang="es-ES" sz="1800" b="0" strike="noStrike" spc="-1">
              <a:solidFill>
                <a:srgbClr val="000000"/>
              </a:solidFill>
              <a:latin typeface="Arial"/>
            </a:endParaRPr>
          </a:p>
        </p:txBody>
      </p:sp>
      <p:pic>
        <p:nvPicPr>
          <p:cNvPr id="101" name="Imagen 6"/>
          <p:cNvPicPr/>
          <p:nvPr/>
        </p:nvPicPr>
        <p:blipFill>
          <a:blip r:embed="rId2"/>
          <a:stretch/>
        </p:blipFill>
        <p:spPr>
          <a:xfrm>
            <a:off x="10598040" y="479520"/>
            <a:ext cx="1065240" cy="801000"/>
          </a:xfrm>
          <a:prstGeom prst="rect">
            <a:avLst/>
          </a:prstGeom>
          <a:ln w="0">
            <a:noFill/>
          </a:ln>
        </p:spPr>
      </p:pic>
      <p:graphicFrame>
        <p:nvGraphicFramePr>
          <p:cNvPr id="102" name="Tabla 52"/>
          <p:cNvGraphicFramePr/>
          <p:nvPr/>
        </p:nvGraphicFramePr>
        <p:xfrm>
          <a:off x="574920" y="1291320"/>
          <a:ext cx="6390360" cy="5094360"/>
        </p:xfrm>
        <a:graphic>
          <a:graphicData uri="http://schemas.openxmlformats.org/drawingml/2006/table">
            <a:tbl>
              <a:tblPr/>
              <a:tblGrid>
                <a:gridCol w="1493640">
                  <a:extLst>
                    <a:ext uri="{9D8B030D-6E8A-4147-A177-3AD203B41FA5}">
                      <a16:colId xmlns:a16="http://schemas.microsoft.com/office/drawing/2014/main" val="20000"/>
                    </a:ext>
                  </a:extLst>
                </a:gridCol>
                <a:gridCol w="1315080">
                  <a:extLst>
                    <a:ext uri="{9D8B030D-6E8A-4147-A177-3AD203B41FA5}">
                      <a16:colId xmlns:a16="http://schemas.microsoft.com/office/drawing/2014/main" val="20001"/>
                    </a:ext>
                  </a:extLst>
                </a:gridCol>
                <a:gridCol w="1168920">
                  <a:extLst>
                    <a:ext uri="{9D8B030D-6E8A-4147-A177-3AD203B41FA5}">
                      <a16:colId xmlns:a16="http://schemas.microsoft.com/office/drawing/2014/main" val="20002"/>
                    </a:ext>
                  </a:extLst>
                </a:gridCol>
                <a:gridCol w="1134720">
                  <a:extLst>
                    <a:ext uri="{9D8B030D-6E8A-4147-A177-3AD203B41FA5}">
                      <a16:colId xmlns:a16="http://schemas.microsoft.com/office/drawing/2014/main" val="20003"/>
                    </a:ext>
                  </a:extLst>
                </a:gridCol>
                <a:gridCol w="1278000">
                  <a:extLst>
                    <a:ext uri="{9D8B030D-6E8A-4147-A177-3AD203B41FA5}">
                      <a16:colId xmlns:a16="http://schemas.microsoft.com/office/drawing/2014/main" val="20004"/>
                    </a:ext>
                  </a:extLst>
                </a:gridCol>
              </a:tblGrid>
              <a:tr h="304560">
                <a:tc>
                  <a:txBody>
                    <a:bodyPr/>
                    <a:lstStyle/>
                    <a:p>
                      <a:pPr algn="ctr" defTabSz="914400">
                        <a:lnSpc>
                          <a:spcPct val="100000"/>
                        </a:lnSpc>
                      </a:pPr>
                      <a:r>
                        <a:rPr lang="es-ES" sz="1300" b="1" strike="noStrike" spc="-1">
                          <a:solidFill>
                            <a:srgbClr val="582808"/>
                          </a:solidFill>
                          <a:latin typeface="Calibri"/>
                        </a:rPr>
                        <a:t>Distrito</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algn="ctr" defTabSz="914400">
                        <a:lnSpc>
                          <a:spcPct val="100000"/>
                        </a:lnSpc>
                      </a:pPr>
                      <a:r>
                        <a:rPr lang="es-ES" sz="1300" b="1" strike="noStrike" spc="-1">
                          <a:solidFill>
                            <a:srgbClr val="582808"/>
                          </a:solidFill>
                          <a:latin typeface="Calibri"/>
                        </a:rPr>
                        <a:t>Nº de anuncios</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algn="ctr" defTabSz="914400">
                        <a:lnSpc>
                          <a:spcPct val="100000"/>
                        </a:lnSpc>
                      </a:pPr>
                      <a:r>
                        <a:rPr lang="es-ES" sz="1300" b="1" strike="noStrike" spc="-1">
                          <a:solidFill>
                            <a:srgbClr val="582808"/>
                          </a:solidFill>
                          <a:latin typeface="Calibri"/>
                        </a:rPr>
                        <a:t>Activos</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algn="ctr" defTabSz="914400">
                        <a:lnSpc>
                          <a:spcPct val="100000"/>
                        </a:lnSpc>
                      </a:pPr>
                      <a:r>
                        <a:rPr lang="es-ES" sz="1300" b="1" strike="noStrike" spc="-1">
                          <a:solidFill>
                            <a:srgbClr val="582808"/>
                          </a:solidFill>
                          <a:latin typeface="Calibri"/>
                        </a:rPr>
                        <a:t>% Anuncios</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algn="ctr" defTabSz="914400">
                        <a:lnSpc>
                          <a:spcPct val="100000"/>
                        </a:lnSpc>
                      </a:pPr>
                      <a:r>
                        <a:rPr lang="es-ES" sz="1300" b="1" strike="noStrike" spc="-1">
                          <a:solidFill>
                            <a:srgbClr val="582808"/>
                          </a:solidFill>
                          <a:latin typeface="Calibri"/>
                        </a:rPr>
                        <a:t>% Activos</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0"/>
                  </a:ext>
                </a:extLst>
              </a:tr>
              <a:tr h="319320">
                <a:tc>
                  <a:txBody>
                    <a:bodyPr/>
                    <a:lstStyle/>
                    <a:p>
                      <a:pPr defTabSz="914400">
                        <a:lnSpc>
                          <a:spcPct val="100000"/>
                        </a:lnSpc>
                      </a:pPr>
                      <a:r>
                        <a:rPr lang="es-ES" sz="1300" b="0" strike="noStrike" spc="-1">
                          <a:solidFill>
                            <a:srgbClr val="582808"/>
                          </a:solidFill>
                          <a:latin typeface="Calibri"/>
                        </a:rPr>
                        <a:t>Centro</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12718</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10436</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40.722359</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41.576033</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1"/>
                  </a:ext>
                </a:extLst>
              </a:tr>
              <a:tr h="319320">
                <a:tc>
                  <a:txBody>
                    <a:bodyPr/>
                    <a:lstStyle/>
                    <a:p>
                      <a:pPr defTabSz="914400">
                        <a:lnSpc>
                          <a:spcPct val="100000"/>
                        </a:lnSpc>
                      </a:pPr>
                      <a:r>
                        <a:rPr lang="es-ES" sz="1300" b="0" strike="noStrike" spc="-1">
                          <a:solidFill>
                            <a:srgbClr val="582808"/>
                          </a:solidFill>
                          <a:latin typeface="Calibri"/>
                        </a:rPr>
                        <a:t>Salamanca</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2065	</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1655</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6.612020</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6.593363</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2"/>
                  </a:ext>
                </a:extLst>
              </a:tr>
              <a:tr h="319320">
                <a:tc>
                  <a:txBody>
                    <a:bodyPr/>
                    <a:lstStyle/>
                    <a:p>
                      <a:pPr defTabSz="914400">
                        <a:lnSpc>
                          <a:spcPct val="100000"/>
                        </a:lnSpc>
                      </a:pPr>
                      <a:r>
                        <a:rPr lang="es-ES" sz="1300" b="0" strike="noStrike" spc="-1">
                          <a:solidFill>
                            <a:srgbClr val="582808"/>
                          </a:solidFill>
                          <a:latin typeface="Calibri"/>
                        </a:rPr>
                        <a:t>Tetuán</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2051	</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1728</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6.567193</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6.884188</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3"/>
                  </a:ext>
                </a:extLst>
              </a:tr>
              <a:tr h="319320">
                <a:tc>
                  <a:txBody>
                    <a:bodyPr/>
                    <a:lstStyle/>
                    <a:p>
                      <a:pPr defTabSz="914400">
                        <a:lnSpc>
                          <a:spcPct val="100000"/>
                        </a:lnSpc>
                      </a:pPr>
                      <a:r>
                        <a:rPr lang="es-ES" sz="1300" b="0" strike="noStrike" spc="-1">
                          <a:solidFill>
                            <a:srgbClr val="582808"/>
                          </a:solidFill>
                          <a:latin typeface="Calibri"/>
                        </a:rPr>
                        <a:t>Chamberí</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2022	</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1609</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6.474336</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6.410103</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4"/>
                  </a:ext>
                </a:extLst>
              </a:tr>
              <a:tr h="319320">
                <a:tc>
                  <a:txBody>
                    <a:bodyPr/>
                    <a:lstStyle/>
                    <a:p>
                      <a:pPr defTabSz="914400">
                        <a:lnSpc>
                          <a:spcPct val="100000"/>
                        </a:lnSpc>
                      </a:pPr>
                      <a:r>
                        <a:rPr lang="es-ES" sz="1300" b="0" strike="noStrike" spc="-1">
                          <a:solidFill>
                            <a:srgbClr val="582808"/>
                          </a:solidFill>
                          <a:latin typeface="Calibri"/>
                        </a:rPr>
                        <a:t>Arganzuela</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1626</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1247</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5.206365</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4.967930</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5"/>
                  </a:ext>
                </a:extLst>
              </a:tr>
              <a:tr h="319320">
                <a:tc>
                  <a:txBody>
                    <a:bodyPr/>
                    <a:lstStyle/>
                    <a:p>
                      <a:pPr defTabSz="914400">
                        <a:lnSpc>
                          <a:spcPct val="100000"/>
                        </a:lnSpc>
                      </a:pPr>
                      <a:r>
                        <a:rPr lang="es-ES" sz="1300" b="0" strike="noStrike" spc="-1">
                          <a:solidFill>
                            <a:srgbClr val="582808"/>
                          </a:solidFill>
                          <a:latin typeface="Calibri"/>
                        </a:rPr>
                        <a:t>Carabanchel</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1169</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953</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3.743076</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3.796661</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6"/>
                  </a:ext>
                </a:extLst>
              </a:tr>
              <a:tr h="319320">
                <a:tc>
                  <a:txBody>
                    <a:bodyPr/>
                    <a:lstStyle/>
                    <a:p>
                      <a:pPr defTabSz="914400">
                        <a:lnSpc>
                          <a:spcPct val="100000"/>
                        </a:lnSpc>
                      </a:pPr>
                      <a:r>
                        <a:rPr lang="es-ES" sz="1300" b="0" strike="noStrike" spc="-1">
                          <a:solidFill>
                            <a:srgbClr val="582808"/>
                          </a:solidFill>
                          <a:latin typeface="Calibri"/>
                        </a:rPr>
                        <a:t>Retiro</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1151</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914</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3.685441</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3.641289</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7"/>
                  </a:ext>
                </a:extLst>
              </a:tr>
              <a:tr h="319320">
                <a:tc>
                  <a:txBody>
                    <a:bodyPr/>
                    <a:lstStyle/>
                    <a:p>
                      <a:pPr defTabSz="914400">
                        <a:lnSpc>
                          <a:spcPct val="100000"/>
                        </a:lnSpc>
                      </a:pPr>
                      <a:r>
                        <a:rPr lang="es-ES" sz="1300" b="0" strike="noStrike" spc="-1">
                          <a:solidFill>
                            <a:srgbClr val="582808"/>
                          </a:solidFill>
                          <a:latin typeface="Calibri"/>
                        </a:rPr>
                        <a:t>Chamartín</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1085</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848</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3.474112</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3.378351</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8"/>
                  </a:ext>
                </a:extLst>
              </a:tr>
              <a:tr h="319320">
                <a:tc>
                  <a:txBody>
                    <a:bodyPr/>
                    <a:lstStyle/>
                    <a:p>
                      <a:pPr defTabSz="914400">
                        <a:lnSpc>
                          <a:spcPct val="100000"/>
                        </a:lnSpc>
                      </a:pPr>
                      <a:r>
                        <a:rPr lang="es-ES" sz="1300" b="0" strike="noStrike" spc="-1">
                          <a:solidFill>
                            <a:srgbClr val="582808"/>
                          </a:solidFill>
                          <a:latin typeface="Calibri"/>
                        </a:rPr>
                        <a:t>Ciudad Lineal</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1062</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832</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3.400467</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3.314609</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09"/>
                  </a:ext>
                </a:extLst>
              </a:tr>
              <a:tr h="319320">
                <a:tc>
                  <a:txBody>
                    <a:bodyPr/>
                    <a:lstStyle/>
                    <a:p>
                      <a:pPr defTabSz="914400">
                        <a:lnSpc>
                          <a:spcPct val="100000"/>
                        </a:lnSpc>
                      </a:pPr>
                      <a:r>
                        <a:rPr lang="es-ES" sz="1300" b="0" strike="noStrike" spc="-1">
                          <a:solidFill>
                            <a:srgbClr val="582808"/>
                          </a:solidFill>
                          <a:latin typeface="Calibri"/>
                        </a:rPr>
                        <a:t>Puente de Vallecas</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998</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777</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3.195543</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3.095494</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10"/>
                  </a:ext>
                </a:extLst>
              </a:tr>
              <a:tr h="319320">
                <a:tc>
                  <a:txBody>
                    <a:bodyPr/>
                    <a:lstStyle/>
                    <a:p>
                      <a:pPr defTabSz="914400">
                        <a:lnSpc>
                          <a:spcPct val="100000"/>
                        </a:lnSpc>
                      </a:pPr>
                      <a:r>
                        <a:rPr lang="es-ES" sz="1300" b="0" strike="noStrike" spc="-1">
                          <a:solidFill>
                            <a:srgbClr val="582808"/>
                          </a:solidFill>
                          <a:latin typeface="Calibri"/>
                        </a:rPr>
                        <a:t>Moncloa</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907</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683</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2.904166</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2.721007</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11"/>
                  </a:ext>
                </a:extLst>
              </a:tr>
              <a:tr h="319320">
                <a:tc>
                  <a:txBody>
                    <a:bodyPr/>
                    <a:lstStyle/>
                    <a:p>
                      <a:pPr defTabSz="914400">
                        <a:lnSpc>
                          <a:spcPct val="100000"/>
                        </a:lnSpc>
                      </a:pPr>
                      <a:r>
                        <a:rPr lang="es-ES" sz="1300" b="0" strike="noStrike" spc="-1">
                          <a:solidFill>
                            <a:srgbClr val="582808"/>
                          </a:solidFill>
                          <a:latin typeface="Calibri"/>
                        </a:rPr>
                        <a:t>Latina</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873</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672</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2.795300</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2.677184</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12"/>
                  </a:ext>
                </a:extLst>
              </a:tr>
              <a:tr h="319320">
                <a:tc>
                  <a:txBody>
                    <a:bodyPr/>
                    <a:lstStyle/>
                    <a:p>
                      <a:pPr defTabSz="914400">
                        <a:lnSpc>
                          <a:spcPct val="100000"/>
                        </a:lnSpc>
                      </a:pPr>
                      <a:r>
                        <a:rPr lang="es-ES" sz="1300" b="0" strike="noStrike" spc="-1">
                          <a:solidFill>
                            <a:srgbClr val="582808"/>
                          </a:solidFill>
                          <a:latin typeface="Calibri"/>
                        </a:rPr>
                        <a:t>Canillejas</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713</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512</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2.282988</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2.039759</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13"/>
                  </a:ext>
                </a:extLst>
              </a:tr>
              <a:tr h="319320">
                <a:tc>
                  <a:txBody>
                    <a:bodyPr/>
                    <a:lstStyle/>
                    <a:p>
                      <a:pPr defTabSz="914400">
                        <a:lnSpc>
                          <a:spcPct val="100000"/>
                        </a:lnSpc>
                      </a:pPr>
                      <a:r>
                        <a:rPr lang="es-ES" sz="1300" b="0" strike="noStrike" spc="-1">
                          <a:solidFill>
                            <a:srgbClr val="582808"/>
                          </a:solidFill>
                          <a:latin typeface="Calibri"/>
                        </a:rPr>
                        <a:t>Usera</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678</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567</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2.170920</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2.258874</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14"/>
                  </a:ext>
                </a:extLst>
              </a:tr>
              <a:tr h="319320">
                <a:tc>
                  <a:txBody>
                    <a:bodyPr/>
                    <a:lstStyle/>
                    <a:p>
                      <a:pPr defTabSz="914400">
                        <a:lnSpc>
                          <a:spcPct val="100000"/>
                        </a:lnSpc>
                      </a:pPr>
                      <a:r>
                        <a:rPr lang="es-ES" sz="1300" b="0" strike="noStrike" spc="-1">
                          <a:solidFill>
                            <a:srgbClr val="582808"/>
                          </a:solidFill>
                          <a:latin typeface="Calibri"/>
                        </a:rPr>
                        <a:t>Hortaleza</a:t>
                      </a:r>
                      <a:endParaRPr lang="es-ES" sz="1300" b="0" strike="noStrike" spc="-1">
                        <a:solidFill>
                          <a:srgbClr val="000000"/>
                        </a:solidFill>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663</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566</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2.122891</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tc>
                  <a:txBody>
                    <a:bodyPr/>
                    <a:lstStyle/>
                    <a:p>
                      <a:pPr defTabSz="914400">
                        <a:lnSpc>
                          <a:spcPct val="100000"/>
                        </a:lnSpc>
                      </a:pPr>
                      <a:r>
                        <a:rPr lang="es-ES" sz="1300" b="0" strike="noStrike" spc="-1">
                          <a:solidFill>
                            <a:srgbClr val="582808"/>
                          </a:solidFill>
                          <a:latin typeface="Calibri"/>
                        </a:rPr>
                        <a:t>2.254890</a:t>
                      </a:r>
                      <a:endParaRPr lang="es-ES" sz="1300" b="0" strike="noStrike" spc="-1">
                        <a:solidFill>
                          <a:srgbClr val="000000"/>
                        </a:solidFill>
                        <a:latin typeface="Arial"/>
                      </a:endParaRPr>
                    </a:p>
                  </a:txBody>
                  <a:tcPr marL="75960" marR="759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2">
                        <a:lumMod val="40000"/>
                        <a:lumOff val="60000"/>
                      </a:schemeClr>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Rectángulo 5"/>
          <p:cNvSpPr/>
          <p:nvPr/>
        </p:nvSpPr>
        <p:spPr>
          <a:xfrm>
            <a:off x="0" y="0"/>
            <a:ext cx="12191400" cy="6857280"/>
          </a:xfrm>
          <a:prstGeom prst="rect">
            <a:avLst/>
          </a:prstGeom>
          <a:solidFill>
            <a:schemeClr val="accent2">
              <a:lumMod val="20000"/>
              <a:lumOff val="80000"/>
            </a:schemeClr>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s-ES" sz="1800" b="0" strike="noStrike" spc="-1">
              <a:solidFill>
                <a:schemeClr val="lt1"/>
              </a:solidFill>
              <a:latin typeface="Calibri"/>
            </a:endParaRPr>
          </a:p>
        </p:txBody>
      </p:sp>
      <p:sp>
        <p:nvSpPr>
          <p:cNvPr id="104" name="CuadroTexto 7"/>
          <p:cNvSpPr/>
          <p:nvPr/>
        </p:nvSpPr>
        <p:spPr>
          <a:xfrm>
            <a:off x="527760" y="479520"/>
            <a:ext cx="11135520" cy="62948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3500" b="1" spc="-1" dirty="0">
                <a:solidFill>
                  <a:srgbClr val="582808"/>
                </a:solidFill>
                <a:latin typeface="Calibri Light"/>
              </a:rPr>
              <a:t>5</a:t>
            </a:r>
            <a:r>
              <a:rPr lang="es-ES" sz="3500" b="1" strike="noStrike" spc="-1" dirty="0">
                <a:solidFill>
                  <a:srgbClr val="582808"/>
                </a:solidFill>
                <a:latin typeface="Calibri Light"/>
              </a:rPr>
              <a:t>. Conclusiones</a:t>
            </a:r>
            <a:endParaRPr lang="es-ES" sz="3500" b="0" strike="noStrike" spc="-1" dirty="0">
              <a:solidFill>
                <a:srgbClr val="582808"/>
              </a:solidFill>
              <a:latin typeface="Arial"/>
            </a:endParaRPr>
          </a:p>
        </p:txBody>
      </p:sp>
      <p:pic>
        <p:nvPicPr>
          <p:cNvPr id="105" name="Imagen 6"/>
          <p:cNvPicPr/>
          <p:nvPr/>
        </p:nvPicPr>
        <p:blipFill>
          <a:blip r:embed="rId2"/>
          <a:stretch/>
        </p:blipFill>
        <p:spPr>
          <a:xfrm>
            <a:off x="10598040" y="479520"/>
            <a:ext cx="1065240" cy="798120"/>
          </a:xfrm>
          <a:prstGeom prst="rect">
            <a:avLst/>
          </a:prstGeom>
          <a:ln w="0">
            <a:noFill/>
          </a:ln>
        </p:spPr>
      </p:pic>
      <p:sp>
        <p:nvSpPr>
          <p:cNvPr id="2" name="CuadroTexto 1">
            <a:extLst>
              <a:ext uri="{FF2B5EF4-FFF2-40B4-BE49-F238E27FC236}">
                <a16:creationId xmlns:a16="http://schemas.microsoft.com/office/drawing/2014/main" id="{E99A7474-2619-437F-8144-0A5FD3A97648}"/>
              </a:ext>
            </a:extLst>
          </p:cNvPr>
          <p:cNvSpPr txBox="1"/>
          <p:nvPr/>
        </p:nvSpPr>
        <p:spPr>
          <a:xfrm>
            <a:off x="646043" y="1411357"/>
            <a:ext cx="11135520" cy="4247317"/>
          </a:xfrm>
          <a:prstGeom prst="rect">
            <a:avLst/>
          </a:prstGeom>
          <a:noFill/>
        </p:spPr>
        <p:txBody>
          <a:bodyPr wrap="square" rtlCol="0">
            <a:spAutoFit/>
          </a:bodyPr>
          <a:lstStyle/>
          <a:p>
            <a:r>
              <a:rPr lang="es-ES" dirty="0">
                <a:solidFill>
                  <a:srgbClr val="582808"/>
                </a:solidFill>
              </a:rPr>
              <a:t>El presente análisis se ha centrado en estudiar la relación entre la densidad de alojamientos turísticos ofertados en Airbnb y su relación con el precio de la vivienda en la ciudad de Madrid, tanto en venta como en alquiler, desde una perspectiva territorial y temporal.</a:t>
            </a:r>
          </a:p>
          <a:p>
            <a:endParaRPr lang="es-ES" dirty="0">
              <a:solidFill>
                <a:srgbClr val="582808"/>
              </a:solidFill>
            </a:endParaRPr>
          </a:p>
          <a:p>
            <a:r>
              <a:rPr lang="es-ES" dirty="0">
                <a:solidFill>
                  <a:srgbClr val="582808"/>
                </a:solidFill>
              </a:rPr>
              <a:t>Los resultados muestran una clara asociación entre la concentración de viviendas ofertadas como alquiler turístico en Airbnb y los precios de las viviendas en Madrid. Tanto a nivel distrito como a nivel barrio se observa que las zonas con más densidad turística tienden a situarse entre las que tienen un mayor precio del metro cuadrado.</a:t>
            </a:r>
          </a:p>
          <a:p>
            <a:endParaRPr lang="es-ES" dirty="0">
              <a:solidFill>
                <a:srgbClr val="582808"/>
              </a:solidFill>
            </a:endParaRPr>
          </a:p>
          <a:p>
            <a:r>
              <a:rPr lang="es-ES" dirty="0">
                <a:solidFill>
                  <a:srgbClr val="582808"/>
                </a:solidFill>
              </a:rPr>
              <a:t>El estudio evidencia que la presión turística no se distribuye homogéneamente en la ciudad, sino que se concentra en las zonas céntricas y de alto valor urbano lo que provoca la existencia de barrios especialmente vulnerables a la transformación del parque residencial.</a:t>
            </a:r>
          </a:p>
          <a:p>
            <a:endParaRPr lang="es-ES" dirty="0">
              <a:solidFill>
                <a:srgbClr val="582808"/>
              </a:solidFill>
            </a:endParaRPr>
          </a:p>
          <a:p>
            <a:r>
              <a:rPr lang="es-ES" dirty="0">
                <a:solidFill>
                  <a:srgbClr val="582808"/>
                </a:solidFill>
              </a:rPr>
              <a:t>En conclusión, este estudio aporta una evidencia sólida de que la expansión del alquiler turístico se asocia con niveles elevados de precios de la vivienda en Madrid, especialmente en determinadas zonas de la ciudad, subrayando la importancia de abordarlo desde una perspectiva territorial, temporal y basada en datos.</a:t>
            </a:r>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329</TotalTime>
  <Words>1554</Words>
  <Application>Microsoft Office PowerPoint</Application>
  <PresentationFormat>Panorámica</PresentationFormat>
  <Paragraphs>146</Paragraphs>
  <Slides>12</Slides>
  <Notes>2</Notes>
  <HiddenSlides>0</HiddenSlides>
  <MMClips>0</MMClips>
  <ScaleCrop>false</ScaleCrop>
  <HeadingPairs>
    <vt:vector size="6" baseType="variant">
      <vt:variant>
        <vt:lpstr>Fuentes usadas</vt:lpstr>
      </vt:variant>
      <vt:variant>
        <vt:i4>6</vt:i4>
      </vt:variant>
      <vt:variant>
        <vt:lpstr>Tema</vt:lpstr>
      </vt:variant>
      <vt:variant>
        <vt:i4>11</vt:i4>
      </vt:variant>
      <vt:variant>
        <vt:lpstr>Títulos de diapositiva</vt:lpstr>
      </vt:variant>
      <vt:variant>
        <vt:i4>12</vt:i4>
      </vt:variant>
    </vt:vector>
  </HeadingPairs>
  <TitlesOfParts>
    <vt:vector size="29" baseType="lpstr">
      <vt:lpstr>Arial</vt:lpstr>
      <vt:lpstr>Calibri</vt:lpstr>
      <vt:lpstr>Calibri Light</vt:lpstr>
      <vt:lpstr>Symbol</vt:lpstr>
      <vt:lpstr>Times New Roman</vt:lpstr>
      <vt:lpstr>Wingdings</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Sara Ruiz Iniesta</dc:creator>
  <dc:description/>
  <cp:lastModifiedBy>Román Diaz</cp:lastModifiedBy>
  <cp:revision>19</cp:revision>
  <dcterms:created xsi:type="dcterms:W3CDTF">2026-01-04T18:35:09Z</dcterms:created>
  <dcterms:modified xsi:type="dcterms:W3CDTF">2026-01-09T17:54:36Z</dcterms:modified>
  <dc:language>es-ES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Panorámica</vt:lpwstr>
  </property>
  <property fmtid="{D5CDD505-2E9C-101B-9397-08002B2CF9AE}" pid="3" name="Slides">
    <vt:i4>10</vt:i4>
  </property>
</Properties>
</file>