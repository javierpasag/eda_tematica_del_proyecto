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notesMasterIdLst>
    <p:notesMasterId r:id="rId24"/>
  </p:notesMasterIdLst>
  <p:sldIdLst>
    <p:sldId id="256" r:id="rId12"/>
    <p:sldId id="257" r:id="rId13"/>
    <p:sldId id="258" r:id="rId14"/>
    <p:sldId id="259" r:id="rId15"/>
    <p:sldId id="260" r:id="rId16"/>
    <p:sldId id="261" r:id="rId17"/>
    <p:sldId id="262" r:id="rId18"/>
    <p:sldId id="263" r:id="rId19"/>
    <p:sldId id="264" r:id="rId20"/>
    <p:sldId id="265" r:id="rId21"/>
    <p:sldId id="268" r:id="rId22"/>
    <p:sldId id="266" r:id="rId23"/>
  </p:sldIdLst>
  <p:sldSz cx="12192000" cy="6858000"/>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28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238" autoAdjust="0"/>
  </p:normalViewPr>
  <p:slideViewPr>
    <p:cSldViewPr snapToGrid="0">
      <p:cViewPr varScale="1">
        <p:scale>
          <a:sx n="70" d="100"/>
          <a:sy n="70" d="100"/>
        </p:scale>
        <p:origin x="1138" y="58"/>
      </p:cViewPr>
      <p:guideLst/>
    </p:cSldViewPr>
  </p:slideViewPr>
  <p:notesTextViewPr>
    <p:cViewPr>
      <p:scale>
        <a:sx n="3" d="2"/>
        <a:sy n="3" d="2"/>
      </p:scale>
      <p:origin x="0" y="-5"/>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notesMaster" Target="notesMasters/notesMaster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tableStyles" Target="tableStyles.xml"/><Relationship Id="rId10" Type="http://schemas.openxmlformats.org/officeDocument/2006/relationships/slideMaster" Target="slideMasters/slideMaster10.xml"/><Relationship Id="rId19" Type="http://schemas.openxmlformats.org/officeDocument/2006/relationships/slide" Target="slides/slide8.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96E2F18F-91F8-4199-A003-5C4169FE7177}" type="datetimeFigureOut">
              <a:rPr lang="es-ES" smtClean="0"/>
              <a:t>09/01/2026</a:t>
            </a:fld>
            <a:endParaRPr lang="es-ES"/>
          </a:p>
        </p:txBody>
      </p:sp>
      <p:sp>
        <p:nvSpPr>
          <p:cNvPr id="4" name="Marcador de imagen de diapositiva 3"/>
          <p:cNvSpPr>
            <a:spLocks noGrp="1" noRot="1" noChangeAspect="1"/>
          </p:cNvSpPr>
          <p:nvPr>
            <p:ph type="sldImg" idx="2"/>
          </p:nvPr>
        </p:nvSpPr>
        <p:spPr>
          <a:xfrm>
            <a:off x="573088" y="1336675"/>
            <a:ext cx="6413500" cy="3608388"/>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F9D43393-09C1-415A-8C48-FC3CFFE955BD}" type="slidenum">
              <a:rPr lang="es-ES" smtClean="0"/>
              <a:t>‹Nº›</a:t>
            </a:fld>
            <a:endParaRPr lang="es-ES"/>
          </a:p>
        </p:txBody>
      </p:sp>
    </p:spTree>
    <p:extLst>
      <p:ext uri="{BB962C8B-B14F-4D97-AF65-F5344CB8AC3E}">
        <p14:creationId xmlns:p14="http://schemas.microsoft.com/office/powerpoint/2010/main" val="2534367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Después de realizar la limpieza de los datos, empezamos a trabajar con distintas extracciones de la información de la que disponíamos para llegar a los datos que aportaban valor a la resolución de nuestra hipótesis. En primer lugar, analizamos el número de anuncios que se registraron durante el periodo estudiado en Airbnb dividido por distritos. Por otro lado, extrajimos la información sobre los 15 barrios con más anuncios registrados en Airbnb y el distrito al que pertenecen. Con esto podemos observar que el número de anuncios que aparecen en Airbnb en la ciudad de Madrid se concentran principalmente en los distritos Centro, Salamanca y </a:t>
            </a:r>
            <a:r>
              <a:rPr lang="es-ES" dirty="0" err="1"/>
              <a:t>Tetúan</a:t>
            </a:r>
            <a:r>
              <a:rPr lang="es-ES" dirty="0"/>
              <a:t>, mientras que en </a:t>
            </a:r>
            <a:r>
              <a:rPr lang="es-ES" dirty="0" err="1"/>
              <a:t>Barajass</a:t>
            </a:r>
            <a:r>
              <a:rPr lang="es-ES" dirty="0"/>
              <a:t>, Villa de Vallecas o Vicálvaro apenas tienen presencia.</a:t>
            </a:r>
          </a:p>
        </p:txBody>
      </p:sp>
      <p:sp>
        <p:nvSpPr>
          <p:cNvPr id="4" name="Marcador de número de diapositiva 3"/>
          <p:cNvSpPr>
            <a:spLocks noGrp="1"/>
          </p:cNvSpPr>
          <p:nvPr>
            <p:ph type="sldNum" sz="quarter" idx="5"/>
          </p:nvPr>
        </p:nvSpPr>
        <p:spPr/>
        <p:txBody>
          <a:bodyPr/>
          <a:lstStyle/>
          <a:p>
            <a:fld id="{F9D43393-09C1-415A-8C48-FC3CFFE955BD}" type="slidenum">
              <a:rPr lang="es-ES" smtClean="0"/>
              <a:t>7</a:t>
            </a:fld>
            <a:endParaRPr lang="es-ES"/>
          </a:p>
        </p:txBody>
      </p:sp>
    </p:spTree>
    <p:extLst>
      <p:ext uri="{BB962C8B-B14F-4D97-AF65-F5344CB8AC3E}">
        <p14:creationId xmlns:p14="http://schemas.microsoft.com/office/powerpoint/2010/main" val="42433074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en relación con los datos que pudimos extraer del portal de Idealista, obtuvimos dos gráficos que representasen el precio medio tanto de alquiler como de venta por distrito. Con esto, y respaldando lo que ya veníamos observado, se establece que el precio medio en ambas casuísticas es superior en aquellos distritos más tensionados por los alquileres turísticos.</a:t>
            </a:r>
          </a:p>
        </p:txBody>
      </p:sp>
      <p:sp>
        <p:nvSpPr>
          <p:cNvPr id="4" name="Marcador de número de diapositiva 3"/>
          <p:cNvSpPr>
            <a:spLocks noGrp="1"/>
          </p:cNvSpPr>
          <p:nvPr>
            <p:ph type="sldNum" sz="quarter" idx="5"/>
          </p:nvPr>
        </p:nvSpPr>
        <p:spPr/>
        <p:txBody>
          <a:bodyPr/>
          <a:lstStyle/>
          <a:p>
            <a:fld id="{F9D43393-09C1-415A-8C48-FC3CFFE955BD}" type="slidenum">
              <a:rPr lang="es-ES" smtClean="0"/>
              <a:t>8</a:t>
            </a:fld>
            <a:endParaRPr lang="es-ES"/>
          </a:p>
        </p:txBody>
      </p:sp>
    </p:spTree>
    <p:extLst>
      <p:ext uri="{BB962C8B-B14F-4D97-AF65-F5344CB8AC3E}">
        <p14:creationId xmlns:p14="http://schemas.microsoft.com/office/powerpoint/2010/main" val="706943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F9D43393-09C1-415A-8C48-FC3CFFE955BD}" type="slidenum">
              <a:rPr lang="es-ES" smtClean="0"/>
              <a:t>11</a:t>
            </a:fld>
            <a:endParaRPr lang="es-ES"/>
          </a:p>
        </p:txBody>
      </p:sp>
    </p:spTree>
    <p:extLst>
      <p:ext uri="{BB962C8B-B14F-4D97-AF65-F5344CB8AC3E}">
        <p14:creationId xmlns:p14="http://schemas.microsoft.com/office/powerpoint/2010/main" val="28618977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6" name="PlaceHolder 2"/>
          <p:cNvSpPr>
            <a:spLocks noGrp="1"/>
          </p:cNvSpPr>
          <p:nvPr>
            <p:ph type="subTitle"/>
          </p:nvPr>
        </p:nvSpPr>
        <p:spPr>
          <a:xfrm>
            <a:off x="838080" y="1825560"/>
            <a:ext cx="10514880" cy="4350600"/>
          </a:xfrm>
          <a:prstGeom prst="rect">
            <a:avLst/>
          </a:prstGeom>
          <a:noFill/>
          <a:ln w="0">
            <a:noFill/>
          </a:ln>
        </p:spPr>
        <p:txBody>
          <a:bodyPr lIns="0" tIns="0" rIns="0" bIns="0" anchor="ctr">
            <a:noAutofit/>
          </a:bodyPr>
          <a:lstStyle/>
          <a:p>
            <a:pPr indent="0" algn="ctr">
              <a:buNone/>
            </a:pPr>
            <a:endParaRPr lang="es-E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E71CAD33-F051-45BB-AE3F-5E3F59894D05}" type="slidenum">
              <a:t>‹Nº›</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535B2AA0-BB1C-4181-986A-B1E5F0C3C06A}" type="slidenum">
              <a:t>‹Nº›</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E94AF2B2-9FFB-49BA-8383-6F52369B5D0B}" type="slidenum">
              <a:t>‹Nº›</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19" name="PlaceHolder 2"/>
          <p:cNvSpPr>
            <a:spLocks noGrp="1"/>
          </p:cNvSpPr>
          <p:nvPr>
            <p:ph/>
          </p:nvPr>
        </p:nvSpPr>
        <p:spPr>
          <a:xfrm>
            <a:off x="838080" y="1825560"/>
            <a:ext cx="105148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5FB2B1B2-5DC2-4864-82C8-14CCD7BF6D50}"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645D68D5-BA9B-436C-8CEF-065308D1D27D}" type="slidenum">
              <a:t>‹Nº›</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30" name="PlaceHolder 2"/>
          <p:cNvSpPr>
            <a:spLocks noGrp="1"/>
          </p:cNvSpPr>
          <p:nvPr>
            <p:ph/>
          </p:nvPr>
        </p:nvSpPr>
        <p:spPr>
          <a:xfrm>
            <a:off x="838080" y="1825560"/>
            <a:ext cx="51310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31" name="PlaceHolder 3"/>
          <p:cNvSpPr>
            <a:spLocks noGrp="1"/>
          </p:cNvSpPr>
          <p:nvPr>
            <p:ph/>
          </p:nvPr>
        </p:nvSpPr>
        <p:spPr>
          <a:xfrm>
            <a:off x="6226200" y="1825560"/>
            <a:ext cx="51310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F47B2D84-9E67-438B-8CBD-86686CC1D125}" type="slidenum">
              <a:t>‹Nº›</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27969D2B-16FF-494B-92A5-B1B8F9C47E2D}" type="slidenum">
              <a:t>‹Nº›</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E2D59506-99BF-4304-ABF1-522A16941D14}" type="slidenum">
              <a:t>‹Nº›</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BE2723EB-3B91-4ED3-8B23-1F7EFC50A57A}" type="slidenum">
              <a:t>‹Nº›</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A4D8E6A2-68A3-418F-8970-729A92AF011A}" type="slidenum">
              <a:t>‹Nº›</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0FFE1CF5-50E4-42AD-8E14-9D62128842C0}" type="slidenum">
              <a:t>‹Nº›</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6" name="PlaceHolder 2"/>
          <p:cNvSpPr>
            <a:spLocks noGrp="1"/>
          </p:cNvSpPr>
          <p:nvPr>
            <p:ph type="ftr" idx="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 </a:t>
            </a:r>
          </a:p>
        </p:txBody>
      </p:sp>
      <p:sp>
        <p:nvSpPr>
          <p:cNvPr id="2" name="PlaceHolder 3"/>
          <p:cNvSpPr>
            <a:spLocks noGrp="1"/>
          </p:cNvSpPr>
          <p:nvPr>
            <p:ph type="sldNum" idx="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323655AD-AF04-4B3A-94D2-2D23DEF88E5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 name="PlaceHolder 4"/>
          <p:cNvSpPr>
            <a:spLocks noGrp="1"/>
          </p:cNvSpPr>
          <p:nvPr>
            <p:ph type="dt" idx="3"/>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 </a:t>
            </a: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8" name="PlaceHolder 2"/>
          <p:cNvSpPr>
            <a:spLocks noGrp="1"/>
          </p:cNvSpPr>
          <p:nvPr>
            <p:ph type="sldNum" idx="5"/>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68A54815-73C1-4FB2-BF07-5E3A5EEE647B}"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9" name="PlaceHolder 3"/>
          <p:cNvSpPr>
            <a:spLocks noGrp="1"/>
          </p:cNvSpPr>
          <p:nvPr>
            <p:ph type="dt" idx="6"/>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11" name="PlaceHolder 2"/>
          <p:cNvSpPr>
            <a:spLocks noGrp="1"/>
          </p:cNvSpPr>
          <p:nvPr>
            <p:ph type="sldNum" idx="8"/>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527F9165-E130-4442-876B-129029C6B41A}"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2" name="PlaceHolder 3"/>
          <p:cNvSpPr>
            <a:spLocks noGrp="1"/>
          </p:cNvSpPr>
          <p:nvPr>
            <p:ph type="dt" idx="9"/>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14" name="PlaceHolder 2"/>
          <p:cNvSpPr>
            <a:spLocks noGrp="1"/>
          </p:cNvSpPr>
          <p:nvPr>
            <p:ph type="body"/>
          </p:nvPr>
        </p:nvSpPr>
        <p:spPr>
          <a:xfrm>
            <a:off x="838080" y="1825560"/>
            <a:ext cx="1051488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15" name="PlaceHolder 3"/>
          <p:cNvSpPr>
            <a:spLocks noGrp="1"/>
          </p:cNvSpPr>
          <p:nvPr>
            <p:ph type="ftr" idx="1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16" name="PlaceHolder 4"/>
          <p:cNvSpPr>
            <a:spLocks noGrp="1"/>
          </p:cNvSpPr>
          <p:nvPr>
            <p:ph type="sldNum" idx="11"/>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CF341BA-2783-4DF4-BDFB-2B19D762A3D2}"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7" name="PlaceHolder 5"/>
          <p:cNvSpPr>
            <a:spLocks noGrp="1"/>
          </p:cNvSpPr>
          <p:nvPr>
            <p:ph type="dt" idx="12"/>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21" name="PlaceHolder 2"/>
          <p:cNvSpPr>
            <a:spLocks noGrp="1"/>
          </p:cNvSpPr>
          <p:nvPr>
            <p:ph type="sldNum" idx="14"/>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A9DDAA4F-8B59-4CD0-B3D7-E2602E2B0EA7}"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2" name="PlaceHolder 3"/>
          <p:cNvSpPr>
            <a:spLocks noGrp="1"/>
          </p:cNvSpPr>
          <p:nvPr>
            <p:ph type="dt" idx="15"/>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24" name="PlaceHolder 2"/>
          <p:cNvSpPr>
            <a:spLocks noGrp="1"/>
          </p:cNvSpPr>
          <p:nvPr>
            <p:ph type="body"/>
          </p:nvPr>
        </p:nvSpPr>
        <p:spPr>
          <a:xfrm>
            <a:off x="838080" y="1825560"/>
            <a:ext cx="513072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5" name="PlaceHolder 3"/>
          <p:cNvSpPr>
            <a:spLocks noGrp="1"/>
          </p:cNvSpPr>
          <p:nvPr>
            <p:ph type="body"/>
          </p:nvPr>
        </p:nvSpPr>
        <p:spPr>
          <a:xfrm>
            <a:off x="6226200" y="1825560"/>
            <a:ext cx="513072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6" name="PlaceHolder 4"/>
          <p:cNvSpPr>
            <a:spLocks noGrp="1"/>
          </p:cNvSpPr>
          <p:nvPr>
            <p:ph type="ftr" idx="1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27" name="PlaceHolder 5"/>
          <p:cNvSpPr>
            <a:spLocks noGrp="1"/>
          </p:cNvSpPr>
          <p:nvPr>
            <p:ph type="sldNum" idx="17"/>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CA92BBA9-EE43-4F35-82BE-16BAA5292B80}"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8" name="PlaceHolder 6"/>
          <p:cNvSpPr>
            <a:spLocks noGrp="1"/>
          </p:cNvSpPr>
          <p:nvPr>
            <p:ph type="dt" idx="18"/>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33" name="PlaceHolder 2"/>
          <p:cNvSpPr>
            <a:spLocks noGrp="1"/>
          </p:cNvSpPr>
          <p:nvPr>
            <p:ph type="sldNum" idx="20"/>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951F9309-E91D-45B8-AFF3-16072FE3D947}"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4" name="PlaceHolder 3"/>
          <p:cNvSpPr>
            <a:spLocks noGrp="1"/>
          </p:cNvSpPr>
          <p:nvPr>
            <p:ph type="dt" idx="21"/>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36" name="PlaceHolder 2"/>
          <p:cNvSpPr>
            <a:spLocks noGrp="1"/>
          </p:cNvSpPr>
          <p:nvPr>
            <p:ph type="ftr" idx="2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37" name="PlaceHolder 3"/>
          <p:cNvSpPr>
            <a:spLocks noGrp="1"/>
          </p:cNvSpPr>
          <p:nvPr>
            <p:ph type="sldNum" idx="2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5AEF4A3-12D7-4A20-901D-BE4B0668D52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8" name="PlaceHolder 4"/>
          <p:cNvSpPr>
            <a:spLocks noGrp="1"/>
          </p:cNvSpPr>
          <p:nvPr>
            <p:ph type="dt" idx="24"/>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1" name="PlaceHolder 2"/>
          <p:cNvSpPr>
            <a:spLocks noGrp="1"/>
          </p:cNvSpPr>
          <p:nvPr>
            <p:ph type="sldNum" idx="26"/>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40D14C81-7213-4AA4-BB41-B54008D10B6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2" name="PlaceHolder 3"/>
          <p:cNvSpPr>
            <a:spLocks noGrp="1"/>
          </p:cNvSpPr>
          <p:nvPr>
            <p:ph type="dt" idx="27"/>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4" name="PlaceHolder 2"/>
          <p:cNvSpPr>
            <a:spLocks noGrp="1"/>
          </p:cNvSpPr>
          <p:nvPr>
            <p:ph type="sldNum" idx="29"/>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23A0601C-6C15-4431-A3D9-A5062780335A}"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5" name="PlaceHolder 3"/>
          <p:cNvSpPr>
            <a:spLocks noGrp="1"/>
          </p:cNvSpPr>
          <p:nvPr>
            <p:ph type="dt" idx="30"/>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7" name="PlaceHolder 2"/>
          <p:cNvSpPr>
            <a:spLocks noGrp="1"/>
          </p:cNvSpPr>
          <p:nvPr>
            <p:ph type="sldNum" idx="3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11ACB5CF-8EF6-487B-8D3F-3F8F956EBC9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8" name="PlaceHolder 3"/>
          <p:cNvSpPr>
            <a:spLocks noGrp="1"/>
          </p:cNvSpPr>
          <p:nvPr>
            <p:ph type="dt" idx="33"/>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slide" Target="slide3.xml"/><Relationship Id="rId1" Type="http://schemas.openxmlformats.org/officeDocument/2006/relationships/slideLayout" Target="../slideLayouts/slideLayout4.xml"/><Relationship Id="rId6" Type="http://schemas.openxmlformats.org/officeDocument/2006/relationships/slide" Target="slide12.xm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slide" Target="slide5.xml"/><Relationship Id="rId4" Type="http://schemas.openxmlformats.org/officeDocument/2006/relationships/slide" Target="slide4.xml"/><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Imagen 8"/>
          <p:cNvPicPr/>
          <p:nvPr/>
        </p:nvPicPr>
        <p:blipFill>
          <a:blip r:embed="rId2"/>
          <a:stretch/>
        </p:blipFill>
        <p:spPr>
          <a:xfrm>
            <a:off x="0" y="-2160"/>
            <a:ext cx="12186360" cy="6854760"/>
          </a:xfrm>
          <a:prstGeom prst="rect">
            <a:avLst/>
          </a:prstGeom>
          <a:ln w="0">
            <a:noFill/>
          </a:ln>
        </p:spPr>
      </p:pic>
      <p:pic>
        <p:nvPicPr>
          <p:cNvPr id="50" name="Imagen 5"/>
          <p:cNvPicPr/>
          <p:nvPr/>
        </p:nvPicPr>
        <p:blipFill>
          <a:blip r:embed="rId3"/>
          <a:stretch/>
        </p:blipFill>
        <p:spPr>
          <a:xfrm>
            <a:off x="6091200" y="3424320"/>
            <a:ext cx="8640" cy="8640"/>
          </a:xfrm>
          <a:prstGeom prst="rect">
            <a:avLst/>
          </a:prstGeom>
          <a:ln w="0">
            <a:noFill/>
          </a:ln>
        </p:spPr>
      </p:pic>
      <p:sp>
        <p:nvSpPr>
          <p:cNvPr id="51" name="CuadroTexto 12"/>
          <p:cNvSpPr/>
          <p:nvPr/>
        </p:nvSpPr>
        <p:spPr>
          <a:xfrm>
            <a:off x="7229880" y="727920"/>
            <a:ext cx="4956840" cy="363960"/>
          </a:xfrm>
          <a:prstGeom prst="rect">
            <a:avLst/>
          </a:prstGeom>
          <a:noFill/>
          <a:ln w="0">
            <a:noFill/>
          </a:ln>
          <a:effectLst>
            <a:outerShdw blurRad="50760" dist="38160" algn="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1" strike="noStrike" spc="-1">
                <a:solidFill>
                  <a:schemeClr val="lt1"/>
                </a:solidFill>
                <a:latin typeface="Calibri"/>
              </a:rPr>
              <a:t>Oferta turística vs precios de vivienda en Madrid</a:t>
            </a:r>
            <a:endParaRPr lang="es-ES" sz="1800" b="0" strike="noStrike" spc="-1">
              <a:solidFill>
                <a:srgbClr val="000000"/>
              </a:solidFill>
              <a:latin typeface="Arial"/>
            </a:endParaRPr>
          </a:p>
        </p:txBody>
      </p:sp>
      <p:sp>
        <p:nvSpPr>
          <p:cNvPr id="52" name="CuadroTexto 14"/>
          <p:cNvSpPr/>
          <p:nvPr/>
        </p:nvSpPr>
        <p:spPr>
          <a:xfrm>
            <a:off x="7229880" y="1097280"/>
            <a:ext cx="4741560" cy="1431360"/>
          </a:xfrm>
          <a:prstGeom prst="rect">
            <a:avLst/>
          </a:prstGeom>
          <a:noFill/>
          <a:ln w="0">
            <a:noFill/>
          </a:ln>
          <a:effectLst>
            <a:outerShdw blurRad="50760" dist="37674" dir="2700000" algn="t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400" b="0" strike="noStrike" spc="-1">
                <a:solidFill>
                  <a:schemeClr val="lt1"/>
                </a:solidFill>
                <a:latin typeface="Calibri"/>
              </a:rPr>
              <a:t>Participantes:</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Nazareth Montero</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Javier Pascual</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Román Diaz</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Sara Ruiz</a:t>
            </a:r>
            <a:endParaRPr lang="es-ES" sz="14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54" name="CuadroTexto 7"/>
          <p:cNvSpPr/>
          <p:nvPr/>
        </p:nvSpPr>
        <p:spPr>
          <a:xfrm>
            <a:off x="527760" y="479520"/>
            <a:ext cx="11135520" cy="115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7000" b="1" strike="noStrike" spc="-1">
                <a:solidFill>
                  <a:schemeClr val="accent2">
                    <a:lumMod val="50000"/>
                  </a:schemeClr>
                </a:solidFill>
                <a:latin typeface="Calibri Light"/>
              </a:rPr>
              <a:t>INDICE</a:t>
            </a:r>
            <a:endParaRPr lang="es-ES" sz="7000" b="0" strike="noStrike" spc="-1">
              <a:solidFill>
                <a:srgbClr val="000000"/>
              </a:solidFill>
              <a:latin typeface="Arial"/>
            </a:endParaRPr>
          </a:p>
        </p:txBody>
      </p:sp>
      <p:sp>
        <p:nvSpPr>
          <p:cNvPr id="55" name="CuadroTexto 8"/>
          <p:cNvSpPr/>
          <p:nvPr/>
        </p:nvSpPr>
        <p:spPr>
          <a:xfrm>
            <a:off x="575994" y="2551680"/>
            <a:ext cx="1716496"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1.  Definición del problema</a:t>
            </a:r>
            <a:endParaRPr lang="es-ES" sz="1900" b="0" strike="noStrike" spc="-1" dirty="0">
              <a:solidFill>
                <a:srgbClr val="000000"/>
              </a:solidFill>
              <a:latin typeface="Arial"/>
            </a:endParaRPr>
          </a:p>
        </p:txBody>
      </p:sp>
      <p:sp>
        <p:nvSpPr>
          <p:cNvPr id="56" name="CuadroTexto 9"/>
          <p:cNvSpPr/>
          <p:nvPr/>
        </p:nvSpPr>
        <p:spPr>
          <a:xfrm>
            <a:off x="2819582" y="2551680"/>
            <a:ext cx="1963800"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2.  Planteamiento de la hipótesis</a:t>
            </a:r>
            <a:endParaRPr lang="es-ES" sz="1900" b="0" strike="noStrike" spc="-1" dirty="0">
              <a:solidFill>
                <a:srgbClr val="000000"/>
              </a:solidFill>
              <a:latin typeface="Arial"/>
            </a:endParaRPr>
          </a:p>
        </p:txBody>
      </p:sp>
      <p:sp>
        <p:nvSpPr>
          <p:cNvPr id="57" name="CuadroTexto 10"/>
          <p:cNvSpPr/>
          <p:nvPr/>
        </p:nvSpPr>
        <p:spPr>
          <a:xfrm>
            <a:off x="5310474" y="2551680"/>
            <a:ext cx="1570092" cy="96804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3.  Extracción y tratamiento de los datos</a:t>
            </a:r>
            <a:endParaRPr lang="es-ES" sz="1900" b="0" strike="noStrike" spc="-1" dirty="0">
              <a:solidFill>
                <a:srgbClr val="000000"/>
              </a:solidFill>
              <a:latin typeface="Arial"/>
            </a:endParaRPr>
          </a:p>
        </p:txBody>
      </p:sp>
      <p:sp>
        <p:nvSpPr>
          <p:cNvPr id="58" name="CuadroTexto 11"/>
          <p:cNvSpPr/>
          <p:nvPr/>
        </p:nvSpPr>
        <p:spPr>
          <a:xfrm>
            <a:off x="9504842" y="2551680"/>
            <a:ext cx="2026440" cy="38326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pc="-1" dirty="0">
                <a:solidFill>
                  <a:schemeClr val="accent2">
                    <a:lumMod val="50000"/>
                  </a:schemeClr>
                </a:solidFill>
                <a:latin typeface="Calibri"/>
              </a:rPr>
              <a:t>5</a:t>
            </a:r>
            <a:r>
              <a:rPr lang="es-ES" sz="1900" b="1" strike="noStrike" spc="-1" dirty="0">
                <a:solidFill>
                  <a:schemeClr val="accent2">
                    <a:lumMod val="50000"/>
                  </a:schemeClr>
                </a:solidFill>
                <a:latin typeface="Calibri"/>
              </a:rPr>
              <a:t>.  Conclusiones</a:t>
            </a:r>
            <a:endParaRPr lang="es-ES" sz="1900" b="0" strike="noStrike" spc="-1" dirty="0">
              <a:solidFill>
                <a:srgbClr val="000000"/>
              </a:solidFill>
              <a:latin typeface="Arial"/>
            </a:endParaRPr>
          </a:p>
        </p:txBody>
      </p:sp>
      <p:pic>
        <p:nvPicPr>
          <p:cNvPr id="59" name="Imagen 20">
            <a:hlinkClick r:id="rId2" action="ppaction://hlinksldjump"/>
          </p:cNvPr>
          <p:cNvPicPr/>
          <p:nvPr/>
        </p:nvPicPr>
        <p:blipFill>
          <a:blip r:embed="rId3"/>
          <a:stretch/>
        </p:blipFill>
        <p:spPr>
          <a:xfrm>
            <a:off x="667346" y="3847203"/>
            <a:ext cx="1716496" cy="1156320"/>
          </a:xfrm>
          <a:prstGeom prst="rect">
            <a:avLst/>
          </a:prstGeom>
          <a:ln w="0">
            <a:noFill/>
          </a:ln>
        </p:spPr>
      </p:pic>
      <p:pic>
        <p:nvPicPr>
          <p:cNvPr id="60" name="Imagen 22">
            <a:hlinkClick r:id="rId4" action="ppaction://hlinksldjump"/>
          </p:cNvPr>
          <p:cNvPicPr/>
          <p:nvPr/>
        </p:nvPicPr>
        <p:blipFill>
          <a:blip r:embed="rId5"/>
          <a:stretch/>
        </p:blipFill>
        <p:spPr>
          <a:xfrm>
            <a:off x="3128591" y="3767136"/>
            <a:ext cx="1493311" cy="1316453"/>
          </a:xfrm>
          <a:prstGeom prst="rect">
            <a:avLst/>
          </a:prstGeom>
          <a:ln w="0">
            <a:noFill/>
          </a:ln>
        </p:spPr>
      </p:pic>
      <p:pic>
        <p:nvPicPr>
          <p:cNvPr id="62" name="Imagen 26">
            <a:hlinkClick r:id="rId6" action="ppaction://hlinksldjump"/>
          </p:cNvPr>
          <p:cNvPicPr/>
          <p:nvPr/>
        </p:nvPicPr>
        <p:blipFill>
          <a:blip r:embed="rId7"/>
          <a:stretch/>
        </p:blipFill>
        <p:spPr>
          <a:xfrm>
            <a:off x="9886341" y="3793262"/>
            <a:ext cx="1368783" cy="1102851"/>
          </a:xfrm>
          <a:prstGeom prst="rect">
            <a:avLst/>
          </a:prstGeom>
          <a:ln w="0">
            <a:noFill/>
          </a:ln>
        </p:spPr>
      </p:pic>
      <p:pic>
        <p:nvPicPr>
          <p:cNvPr id="63" name="Imagen 28">
            <a:hlinkClick r:id="rId8" action="ppaction://hlinksldjump"/>
          </p:cNvPr>
          <p:cNvPicPr/>
          <p:nvPr/>
        </p:nvPicPr>
        <p:blipFill>
          <a:blip r:embed="rId9"/>
          <a:stretch/>
        </p:blipFill>
        <p:spPr>
          <a:xfrm>
            <a:off x="7508312" y="3716528"/>
            <a:ext cx="1368783" cy="1316453"/>
          </a:xfrm>
          <a:prstGeom prst="rect">
            <a:avLst/>
          </a:prstGeom>
          <a:ln w="0">
            <a:noFill/>
          </a:ln>
        </p:spPr>
      </p:pic>
      <p:sp>
        <p:nvSpPr>
          <p:cNvPr id="13" name="CuadroTexto 10">
            <a:extLst>
              <a:ext uri="{FF2B5EF4-FFF2-40B4-BE49-F238E27FC236}">
                <a16:creationId xmlns:a16="http://schemas.microsoft.com/office/drawing/2014/main" id="{8E387D47-3B56-446E-8B27-7902FC30F90D}"/>
              </a:ext>
            </a:extLst>
          </p:cNvPr>
          <p:cNvSpPr/>
          <p:nvPr/>
        </p:nvSpPr>
        <p:spPr>
          <a:xfrm>
            <a:off x="7407658" y="2551680"/>
            <a:ext cx="1570092"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pc="-1" dirty="0">
                <a:solidFill>
                  <a:schemeClr val="accent2">
                    <a:lumMod val="50000"/>
                  </a:schemeClr>
                </a:solidFill>
                <a:latin typeface="Calibri"/>
              </a:rPr>
              <a:t>4</a:t>
            </a:r>
            <a:r>
              <a:rPr lang="es-ES" sz="1900" b="1" strike="noStrike" spc="-1" dirty="0">
                <a:solidFill>
                  <a:schemeClr val="accent2">
                    <a:lumMod val="50000"/>
                  </a:schemeClr>
                </a:solidFill>
                <a:latin typeface="Calibri"/>
              </a:rPr>
              <a:t>.  Análisis de los datos</a:t>
            </a:r>
            <a:endParaRPr lang="es-ES" sz="1900" b="0" strike="noStrike" spc="-1" dirty="0">
              <a:solidFill>
                <a:srgbClr val="000000"/>
              </a:solidFill>
              <a:latin typeface="Arial"/>
            </a:endParaRPr>
          </a:p>
        </p:txBody>
      </p:sp>
      <p:pic>
        <p:nvPicPr>
          <p:cNvPr id="16" name="Marcador de contenido 6">
            <a:hlinkClick r:id="rId10" action="ppaction://hlinksldjump"/>
            <a:extLst>
              <a:ext uri="{FF2B5EF4-FFF2-40B4-BE49-F238E27FC236}">
                <a16:creationId xmlns:a16="http://schemas.microsoft.com/office/drawing/2014/main" id="{1D76A549-A656-44CD-9D5A-411B82EB5B40}"/>
              </a:ext>
            </a:extLst>
          </p:cNvPr>
          <p:cNvPicPr>
            <a:picLocks noGrp="1" noChangeAspect="1"/>
          </p:cNvPicPr>
          <p:nvPr>
            <p:ph/>
          </p:nvPr>
        </p:nvPicPr>
        <p:blipFill>
          <a:blip r:embed="rId11" cstate="print">
            <a:extLst>
              <a:ext uri="{28A0092B-C50C-407E-A947-70E740481C1C}">
                <a14:useLocalDpi xmlns:a14="http://schemas.microsoft.com/office/drawing/2010/main" val="0"/>
              </a:ext>
            </a:extLst>
          </a:blip>
          <a:stretch>
            <a:fillRect/>
          </a:stretch>
        </p:blipFill>
        <p:spPr>
          <a:xfrm>
            <a:off x="5366651" y="3333022"/>
            <a:ext cx="1699717" cy="2424899"/>
          </a:xfr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65" name="CuadroTexto 7"/>
          <p:cNvSpPr/>
          <p:nvPr/>
        </p:nvSpPr>
        <p:spPr>
          <a:xfrm>
            <a:off x="527760" y="479520"/>
            <a:ext cx="1113552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a:solidFill>
                  <a:srgbClr val="582808"/>
                </a:solidFill>
                <a:latin typeface="Calibri Light"/>
              </a:rPr>
              <a:t>1. Definición del problema</a:t>
            </a:r>
            <a:endParaRPr lang="es-ES" sz="3500" b="0" strike="noStrike" spc="-1">
              <a:solidFill>
                <a:srgbClr val="000000"/>
              </a:solidFill>
              <a:latin typeface="Arial"/>
            </a:endParaRPr>
          </a:p>
        </p:txBody>
      </p:sp>
      <p:pic>
        <p:nvPicPr>
          <p:cNvPr id="66" name="Imagen 20"/>
          <p:cNvPicPr/>
          <p:nvPr/>
        </p:nvPicPr>
        <p:blipFill>
          <a:blip r:embed="rId2"/>
          <a:stretch/>
        </p:blipFill>
        <p:spPr>
          <a:xfrm>
            <a:off x="10757520" y="471240"/>
            <a:ext cx="1065240" cy="801000"/>
          </a:xfrm>
          <a:prstGeom prst="rect">
            <a:avLst/>
          </a:prstGeom>
          <a:ln w="0">
            <a:noFill/>
          </a:ln>
        </p:spPr>
      </p:pic>
      <p:sp>
        <p:nvSpPr>
          <p:cNvPr id="67" name="CuadroTexto 2"/>
          <p:cNvSpPr/>
          <p:nvPr/>
        </p:nvSpPr>
        <p:spPr>
          <a:xfrm>
            <a:off x="622080" y="1984680"/>
            <a:ext cx="1094688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En los últimos años, el crecimiento de plataformas de alquiler turístico – como por ejemplo Airbnb – ha generado un intenso debate sobre su impacto en el mercado inmobiliario de grandes ciudades.</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Madrid no es una excepción y la concentración que aquí se da de viviendas turísticas plantea dudas sobre su relación con el incremento de precio de las viviendas, la reducción de la oferta residencial o la posible desigualdad inmobiliaria que se da entre los distintos distritos y barrios de la ciudad.</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Por ello, hemos querido centrar en estos puntos el análisis para poder objetivar esa relación más allá de las percepciones generales que puedan existir.</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¿Existe realmente una relación entre la presión turística (medida según los datos de Airbnb) y el precio del metro cuadrado de las viviendas de los distintos distritos y barrios de Madrid?</a:t>
            </a:r>
            <a:endParaRPr lang="es-ES" sz="18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69"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2. Planteamiento de la hipótesis</a:t>
            </a:r>
            <a:endParaRPr lang="es-ES" sz="3500" b="0" strike="noStrike" spc="-1" dirty="0">
              <a:solidFill>
                <a:srgbClr val="000000"/>
              </a:solidFill>
              <a:latin typeface="Arial"/>
            </a:endParaRPr>
          </a:p>
        </p:txBody>
      </p:sp>
      <p:sp>
        <p:nvSpPr>
          <p:cNvPr id="70" name="CuadroTexto 2"/>
          <p:cNvSpPr/>
          <p:nvPr/>
        </p:nvSpPr>
        <p:spPr>
          <a:xfrm>
            <a:off x="716400" y="1947960"/>
            <a:ext cx="1094688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Nuestra hipótesis es que los barrios en los que existe una mayor densidad de oferta turística tienden a presentar precios más elevados por metro cuadrado, tanto en los casos de venta como en los casos de alquiler convencional.</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Esto lo fundamentamos principalmente en la idea de que el alquiler turístico compite directamente con el alquiler residencial, ya que los propietarios obtienen mayores beneficios con el primero y la oferta de este último disminuye considerablemente.</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Con esto se tensiona adicionalmente el mercado inmobiliario debido a que una parte del parque de vivienda se desplaza del mercado residencial al turístico, haciendo que aumente el precio debido a la escasez, lo que se hace mucho más latente en los barrios donde la presencia de alquileres turísticos es más alta. </a:t>
            </a:r>
            <a:endParaRPr lang="es-ES" sz="1800" b="0" strike="noStrike" spc="-1">
              <a:solidFill>
                <a:srgbClr val="000000"/>
              </a:solidFill>
              <a:latin typeface="Arial"/>
            </a:endParaRPr>
          </a:p>
        </p:txBody>
      </p:sp>
      <p:pic>
        <p:nvPicPr>
          <p:cNvPr id="71" name="Imagen 6"/>
          <p:cNvPicPr/>
          <p:nvPr/>
        </p:nvPicPr>
        <p:blipFill>
          <a:blip r:embed="rId2"/>
          <a:stretch/>
        </p:blipFill>
        <p:spPr>
          <a:xfrm>
            <a:off x="10348920" y="479520"/>
            <a:ext cx="1314360" cy="988200"/>
          </a:xfrm>
          <a:prstGeom prst="rect">
            <a:avLst/>
          </a:prstGeom>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ángulo 5"/>
          <p:cNvSpPr/>
          <p:nvPr/>
        </p:nvSpPr>
        <p:spPr>
          <a:xfrm>
            <a:off x="-180" y="72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3"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3. Extracción y tratamiento de los datos</a:t>
            </a:r>
            <a:endParaRPr lang="es-ES" sz="3500" b="0" strike="noStrike" spc="-1" dirty="0">
              <a:solidFill>
                <a:srgbClr val="582808"/>
              </a:solidFill>
              <a:latin typeface="Arial"/>
            </a:endParaRPr>
          </a:p>
        </p:txBody>
      </p:sp>
      <p:sp>
        <p:nvSpPr>
          <p:cNvPr id="74" name="CuadroTexto 2"/>
          <p:cNvSpPr/>
          <p:nvPr/>
        </p:nvSpPr>
        <p:spPr>
          <a:xfrm>
            <a:off x="716400" y="1760760"/>
            <a:ext cx="10946880" cy="424586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Como primer paso para comenzar a tratar el problema planteado, trabajamos en la obtención de datos obtenidos de fuentes referencia en el sector inmobiliario, como son Airbnb e Idealista.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De esta última obtuvimos acceso a su API e intentamos obtener la información del precio de la vivienda haciendo uso de ella, pero nos topamos con una restricción que no permitía realizar una llamada con respuesta satisfactoria.</a:t>
            </a: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A través de </a:t>
            </a:r>
            <a:r>
              <a:rPr lang="es-ES" sz="1800" b="0" strike="noStrike" spc="-1" dirty="0" err="1">
                <a:solidFill>
                  <a:srgbClr val="582808"/>
                </a:solidFill>
                <a:latin typeface="Calibri"/>
              </a:rPr>
              <a:t>Postman</a:t>
            </a:r>
            <a:r>
              <a:rPr lang="es-ES" sz="1800" b="0" strike="noStrike" spc="-1" dirty="0">
                <a:solidFill>
                  <a:srgbClr val="582808"/>
                </a:solidFill>
                <a:latin typeface="Calibri"/>
              </a:rPr>
              <a:t>, que es una herramienta que facilita la configuración y ejecución de llamadas a </a:t>
            </a:r>
            <a:r>
              <a:rPr lang="es-ES" sz="1800" b="0" strike="noStrike" spc="-1" dirty="0" err="1">
                <a:solidFill>
                  <a:srgbClr val="582808"/>
                </a:solidFill>
                <a:latin typeface="Calibri"/>
              </a:rPr>
              <a:t>APIs</a:t>
            </a:r>
            <a:r>
              <a:rPr lang="es-ES" sz="1800" b="0" strike="noStrike" spc="-1" dirty="0">
                <a:solidFill>
                  <a:srgbClr val="582808"/>
                </a:solidFill>
                <a:latin typeface="Calibri"/>
              </a:rPr>
              <a:t>, pudimos realizar alguna llamada exitosa, pero la limitación de resultados por llamada y el no poder automatizar estas llamadas desde el notebook, hizo inviable la recopilación de datos a través de esta vía.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Por lo que decidimos centrarnos en los datos de Airbnb y en la información sobre el precio del metro cuadrado que si se recoge en el portal de idealista (tanto para venta como para alquiler), y es obtenible desde su portal web.</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p:txBody>
      </p:sp>
      <p:pic>
        <p:nvPicPr>
          <p:cNvPr id="6" name="Marcador de contenido 6">
            <a:extLst>
              <a:ext uri="{FF2B5EF4-FFF2-40B4-BE49-F238E27FC236}">
                <a16:creationId xmlns:a16="http://schemas.microsoft.com/office/drawing/2014/main" id="{6FB3E1CF-970A-4B72-9245-AF05FD2F00C1}"/>
              </a:ext>
            </a:extLst>
          </p:cNvPr>
          <p:cNvPicPr>
            <a:picLocks noGrp="1" noChangeAspect="1"/>
          </p:cNvPicPr>
          <p:nvPr>
            <p:ph/>
          </p:nvPr>
        </p:nvPicPr>
        <p:blipFill>
          <a:blip r:embed="rId2" cstate="print">
            <a:extLst>
              <a:ext uri="{28A0092B-C50C-407E-A947-70E740481C1C}">
                <a14:useLocalDpi xmlns:a14="http://schemas.microsoft.com/office/drawing/2010/main" val="0"/>
              </a:ext>
            </a:extLst>
          </a:blip>
          <a:stretch>
            <a:fillRect/>
          </a:stretch>
        </p:blipFill>
        <p:spPr>
          <a:xfrm>
            <a:off x="10598040" y="25985"/>
            <a:ext cx="1065240" cy="1740143"/>
          </a:xfr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ectángulo 1"/>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s-ES" sz="1800" b="0" strike="noStrike" spc="-1">
              <a:solidFill>
                <a:schemeClr val="lt1"/>
              </a:solidFill>
              <a:latin typeface="Calibri"/>
            </a:endParaRPr>
          </a:p>
        </p:txBody>
      </p:sp>
      <p:sp>
        <p:nvSpPr>
          <p:cNvPr id="77" name="CuadroTexto 4"/>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3. Extracción y tratamiento de los datos</a:t>
            </a:r>
            <a:endParaRPr lang="es-ES" sz="3500" b="0" strike="noStrike" spc="-1" dirty="0">
              <a:solidFill>
                <a:srgbClr val="582808"/>
              </a:solidFill>
              <a:latin typeface="Arial"/>
            </a:endParaRPr>
          </a:p>
        </p:txBody>
      </p:sp>
      <p:sp>
        <p:nvSpPr>
          <p:cNvPr id="78" name="CuadroTexto 5"/>
          <p:cNvSpPr/>
          <p:nvPr/>
        </p:nvSpPr>
        <p:spPr>
          <a:xfrm>
            <a:off x="716400" y="1760760"/>
            <a:ext cx="10946880" cy="47998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Una vez recopilada la información y cargada en distintos </a:t>
            </a:r>
            <a:r>
              <a:rPr lang="es-ES" sz="1800" b="0" strike="noStrike" spc="-1" dirty="0" err="1">
                <a:solidFill>
                  <a:srgbClr val="582808"/>
                </a:solidFill>
                <a:latin typeface="Calibri"/>
              </a:rPr>
              <a:t>DataFrames</a:t>
            </a:r>
            <a:r>
              <a:rPr lang="es-ES" sz="1800" b="0" strike="noStrike" spc="-1" dirty="0">
                <a:solidFill>
                  <a:srgbClr val="582808"/>
                </a:solidFill>
                <a:latin typeface="Calibri"/>
              </a:rPr>
              <a:t>, comenzamos con el análisis y tratamiento de los datos.</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En primer lugar, identificamos las columnas relevantes para nuestro estudio y nos quedamos con ellas, descartando todas aquellas irrelevantes para nuestro análisis.</a:t>
            </a: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Una vez aplicado este filtro a los </a:t>
            </a:r>
            <a:r>
              <a:rPr lang="es-ES" sz="1800" b="0" strike="noStrike" spc="-1" dirty="0" err="1">
                <a:solidFill>
                  <a:srgbClr val="582808"/>
                </a:solidFill>
                <a:latin typeface="Calibri"/>
              </a:rPr>
              <a:t>datasets</a:t>
            </a:r>
            <a:r>
              <a:rPr lang="es-ES" sz="1800" b="0" strike="noStrike" spc="-1" dirty="0">
                <a:solidFill>
                  <a:srgbClr val="582808"/>
                </a:solidFill>
                <a:latin typeface="Calibri"/>
              </a:rPr>
              <a:t> con las columnas que queremos, agrupamos los distintos </a:t>
            </a:r>
            <a:r>
              <a:rPr lang="es-ES" sz="1800" b="0" strike="noStrike" spc="-1" dirty="0" err="1">
                <a:solidFill>
                  <a:srgbClr val="582808"/>
                </a:solidFill>
                <a:latin typeface="Calibri"/>
              </a:rPr>
              <a:t>DataFrames</a:t>
            </a:r>
            <a:r>
              <a:rPr lang="es-ES" sz="1800" b="0" strike="noStrike" spc="-1" dirty="0">
                <a:solidFill>
                  <a:srgbClr val="582808"/>
                </a:solidFill>
                <a:latin typeface="Calibri"/>
              </a:rPr>
              <a:t> en uno sólo, ya que la información la obtuvimos por trimestres.</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El siguiente paso es analizar los valores nulos que podían presentar los datos, por suerte estos sólo estaban presentes en 3 columnas, de las cuáles dos eran poco o nada influyentes para nuestro análisis, por lo que pudimos sustituir los valores nulos por medidas de tendencia como la mediana o la moda según el caso.</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La tercera columna con valores nulos era la relativa al precio, muy relevante para nuestro análisis, así que gestionamos con más detalle el tratamiento de sus nulos y aplicamos a los valores nulos las medias de los precios de cada barrio en el que se encontrasen, para que el nuevo valor tuviese mayor coherencia.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p:txBody>
      </p:sp>
      <p:pic>
        <p:nvPicPr>
          <p:cNvPr id="9" name="Marcador de contenido 6">
            <a:extLst>
              <a:ext uri="{FF2B5EF4-FFF2-40B4-BE49-F238E27FC236}">
                <a16:creationId xmlns:a16="http://schemas.microsoft.com/office/drawing/2014/main" id="{54C7336E-B1CB-40B5-9B80-3C5FB48A2B29}"/>
              </a:ext>
            </a:extLst>
          </p:cNvPr>
          <p:cNvPicPr>
            <a:picLocks noGrp="1" noChangeAspect="1"/>
          </p:cNvPicPr>
          <p:nvPr>
            <p:ph/>
          </p:nvPr>
        </p:nvPicPr>
        <p:blipFill>
          <a:blip r:embed="rId2" cstate="print">
            <a:extLst>
              <a:ext uri="{28A0092B-C50C-407E-A947-70E740481C1C}">
                <a14:useLocalDpi xmlns:a14="http://schemas.microsoft.com/office/drawing/2010/main" val="0"/>
              </a:ext>
            </a:extLst>
          </a:blip>
          <a:stretch>
            <a:fillRect/>
          </a:stretch>
        </p:blipFill>
        <p:spPr>
          <a:xfrm>
            <a:off x="10598040" y="25117"/>
            <a:ext cx="1065240" cy="1740143"/>
          </a:xfr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81"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4. Análisis de los datos</a:t>
            </a:r>
            <a:endParaRPr lang="es-ES" sz="3500" b="0" strike="noStrike" spc="-1" dirty="0">
              <a:solidFill>
                <a:srgbClr val="582808"/>
              </a:solidFill>
              <a:latin typeface="Arial"/>
            </a:endParaRPr>
          </a:p>
        </p:txBody>
      </p:sp>
      <p:sp>
        <p:nvSpPr>
          <p:cNvPr id="82" name="CuadroTexto 2"/>
          <p:cNvSpPr/>
          <p:nvPr/>
        </p:nvSpPr>
        <p:spPr>
          <a:xfrm>
            <a:off x="527760" y="5424840"/>
            <a:ext cx="111355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En estas gráficas podemos observar que el número de anuncios que aparecen en Airbnb para Madrid se concentran principalmente en los distritos Centro, Salamanca y Tetuán, mientras que los distritos de Barajas, Villa de Vallecas o Vicálvaro apenas tienen presencia en la plataforma.</a:t>
            </a:r>
            <a:endParaRPr lang="es-ES" sz="1800" b="0" strike="noStrike" spc="-1" dirty="0">
              <a:solidFill>
                <a:srgbClr val="000000"/>
              </a:solidFill>
              <a:latin typeface="Arial"/>
            </a:endParaRPr>
          </a:p>
        </p:txBody>
      </p:sp>
      <p:pic>
        <p:nvPicPr>
          <p:cNvPr id="83" name="Imagen 6"/>
          <p:cNvPicPr/>
          <p:nvPr/>
        </p:nvPicPr>
        <p:blipFill>
          <a:blip r:embed="rId3"/>
          <a:stretch/>
        </p:blipFill>
        <p:spPr>
          <a:xfrm>
            <a:off x="10598040" y="479520"/>
            <a:ext cx="1065240" cy="801000"/>
          </a:xfrm>
          <a:prstGeom prst="rect">
            <a:avLst/>
          </a:prstGeom>
          <a:ln w="0">
            <a:noFill/>
          </a:ln>
        </p:spPr>
      </p:pic>
      <p:pic>
        <p:nvPicPr>
          <p:cNvPr id="84" name="Imagen 8"/>
          <p:cNvPicPr/>
          <p:nvPr/>
        </p:nvPicPr>
        <p:blipFill>
          <a:blip r:embed="rId4"/>
          <a:stretch/>
        </p:blipFill>
        <p:spPr>
          <a:xfrm>
            <a:off x="527760" y="1380960"/>
            <a:ext cx="5287680" cy="3772800"/>
          </a:xfrm>
          <a:prstGeom prst="rect">
            <a:avLst/>
          </a:prstGeom>
          <a:ln w="0">
            <a:noFill/>
          </a:ln>
        </p:spPr>
      </p:pic>
      <p:pic>
        <p:nvPicPr>
          <p:cNvPr id="85" name="Imagen 14"/>
          <p:cNvPicPr/>
          <p:nvPr/>
        </p:nvPicPr>
        <p:blipFill>
          <a:blip r:embed="rId5"/>
          <a:stretch/>
        </p:blipFill>
        <p:spPr>
          <a:xfrm>
            <a:off x="6375600" y="1380960"/>
            <a:ext cx="5287680" cy="3772800"/>
          </a:xfrm>
          <a:prstGeom prst="rect">
            <a:avLst/>
          </a:prstGeom>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87"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88" name="CuadroTexto 2"/>
          <p:cNvSpPr/>
          <p:nvPr/>
        </p:nvSpPr>
        <p:spPr>
          <a:xfrm>
            <a:off x="527760" y="5424840"/>
            <a:ext cx="111355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Como indicábamos al inicio, el número de anuncios está directamente relacionado con el precio del metro cuadrado para venta y alquiler que tienen las viviendas de los barrios y distritos más tensionados.</a:t>
            </a:r>
            <a:endParaRPr lang="es-ES" sz="1800" b="0" strike="noStrike" spc="-1">
              <a:solidFill>
                <a:srgbClr val="000000"/>
              </a:solidFill>
              <a:latin typeface="Arial"/>
            </a:endParaRPr>
          </a:p>
        </p:txBody>
      </p:sp>
      <p:pic>
        <p:nvPicPr>
          <p:cNvPr id="89" name="Imagen 6"/>
          <p:cNvPicPr/>
          <p:nvPr/>
        </p:nvPicPr>
        <p:blipFill>
          <a:blip r:embed="rId3"/>
          <a:stretch/>
        </p:blipFill>
        <p:spPr>
          <a:xfrm>
            <a:off x="10598040" y="479520"/>
            <a:ext cx="1065240" cy="801000"/>
          </a:xfrm>
          <a:prstGeom prst="rect">
            <a:avLst/>
          </a:prstGeom>
          <a:ln w="0">
            <a:noFill/>
          </a:ln>
        </p:spPr>
      </p:pic>
      <p:pic>
        <p:nvPicPr>
          <p:cNvPr id="3" name="Imagen 2">
            <a:extLst>
              <a:ext uri="{FF2B5EF4-FFF2-40B4-BE49-F238E27FC236}">
                <a16:creationId xmlns:a16="http://schemas.microsoft.com/office/drawing/2014/main" id="{6EFBE7E1-C8C1-4E20-8209-908A8B668D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9800" y="1380088"/>
            <a:ext cx="5287680" cy="3772800"/>
          </a:xfrm>
          <a:prstGeom prst="rect">
            <a:avLst/>
          </a:prstGeom>
        </p:spPr>
      </p:pic>
      <p:pic>
        <p:nvPicPr>
          <p:cNvPr id="5" name="Imagen 4">
            <a:extLst>
              <a:ext uri="{FF2B5EF4-FFF2-40B4-BE49-F238E27FC236}">
                <a16:creationId xmlns:a16="http://schemas.microsoft.com/office/drawing/2014/main" id="{B04E42C5-952B-40EF-A588-E27950685C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75600" y="1380088"/>
            <a:ext cx="5287680" cy="3772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93"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94" name="CuadroTexto 2"/>
          <p:cNvSpPr/>
          <p:nvPr/>
        </p:nvSpPr>
        <p:spPr>
          <a:xfrm>
            <a:off x="527760" y="5424840"/>
            <a:ext cx="111355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Así mismo hemos analizado la distribución que se da según el tipo de alojamiento y dónde se concentran más en el mapa de Madrid, observando una gran concentración y las zonas centrales y donde prevalece el alquiler de viviendas completas por encima del de habitaciones privadas o compartidas.</a:t>
            </a:r>
            <a:endParaRPr lang="es-ES" sz="1800" b="0" strike="noStrike" spc="-1">
              <a:solidFill>
                <a:srgbClr val="000000"/>
              </a:solidFill>
              <a:latin typeface="Arial"/>
            </a:endParaRPr>
          </a:p>
        </p:txBody>
      </p:sp>
      <p:pic>
        <p:nvPicPr>
          <p:cNvPr id="95" name="Imagen 6"/>
          <p:cNvPicPr/>
          <p:nvPr/>
        </p:nvPicPr>
        <p:blipFill>
          <a:blip r:embed="rId2"/>
          <a:stretch/>
        </p:blipFill>
        <p:spPr>
          <a:xfrm>
            <a:off x="10598040" y="479520"/>
            <a:ext cx="1065240" cy="801000"/>
          </a:xfrm>
          <a:prstGeom prst="rect">
            <a:avLst/>
          </a:prstGeom>
          <a:ln w="0">
            <a:noFill/>
          </a:ln>
        </p:spPr>
      </p:pic>
      <p:pic>
        <p:nvPicPr>
          <p:cNvPr id="96" name="Imagen 3"/>
          <p:cNvPicPr/>
          <p:nvPr/>
        </p:nvPicPr>
        <p:blipFill>
          <a:blip r:embed="rId3"/>
          <a:stretch/>
        </p:blipFill>
        <p:spPr>
          <a:xfrm>
            <a:off x="527760" y="1380960"/>
            <a:ext cx="5287680" cy="3772800"/>
          </a:xfrm>
          <a:prstGeom prst="rect">
            <a:avLst/>
          </a:prstGeom>
          <a:ln w="0">
            <a:noFill/>
          </a:ln>
        </p:spPr>
      </p:pic>
      <p:pic>
        <p:nvPicPr>
          <p:cNvPr id="97" name="Imagen 8"/>
          <p:cNvPicPr/>
          <p:nvPr/>
        </p:nvPicPr>
        <p:blipFill>
          <a:blip r:embed="rId4"/>
          <a:stretch/>
        </p:blipFill>
        <p:spPr>
          <a:xfrm>
            <a:off x="6375600" y="1380960"/>
            <a:ext cx="5287680" cy="377280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99"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100" name="CuadroTexto 2"/>
          <p:cNvSpPr/>
          <p:nvPr/>
        </p:nvSpPr>
        <p:spPr>
          <a:xfrm>
            <a:off x="7777080" y="2413440"/>
            <a:ext cx="3886200" cy="202987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914400">
              <a:lnSpc>
                <a:spcPct val="100000"/>
              </a:lnSpc>
            </a:pPr>
            <a:r>
              <a:rPr lang="es-ES" sz="1800" strike="noStrike" spc="-1" dirty="0">
                <a:solidFill>
                  <a:srgbClr val="582808"/>
                </a:solidFill>
                <a:latin typeface="Calibri"/>
              </a:rPr>
              <a:t>La tabla por distrito muestra una concentración muy marcada de anuncios en Centro, que acumula aproximadamente 4 de cada 10 anuncios del </a:t>
            </a:r>
            <a:r>
              <a:rPr lang="es-ES" sz="1800" strike="noStrike" spc="-1" dirty="0" err="1">
                <a:solidFill>
                  <a:srgbClr val="582808"/>
                </a:solidFill>
                <a:latin typeface="Calibri"/>
              </a:rPr>
              <a:t>Dataset</a:t>
            </a:r>
            <a:r>
              <a:rPr lang="es-ES" sz="1800" strike="noStrike" spc="-1" dirty="0">
                <a:solidFill>
                  <a:srgbClr val="582808"/>
                </a:solidFill>
                <a:latin typeface="Calibri"/>
              </a:rPr>
              <a:t> (≈40% del total) y una proporción similar de anuncios activos (≈41%).</a:t>
            </a:r>
            <a:endParaRPr lang="es-ES" sz="1800" strike="noStrike" spc="-1" dirty="0">
              <a:solidFill>
                <a:srgbClr val="000000"/>
              </a:solidFill>
              <a:latin typeface="Arial"/>
            </a:endParaRPr>
          </a:p>
        </p:txBody>
      </p:sp>
      <p:pic>
        <p:nvPicPr>
          <p:cNvPr id="101" name="Imagen 6"/>
          <p:cNvPicPr/>
          <p:nvPr/>
        </p:nvPicPr>
        <p:blipFill>
          <a:blip r:embed="rId2"/>
          <a:stretch/>
        </p:blipFill>
        <p:spPr>
          <a:xfrm>
            <a:off x="10598040" y="479520"/>
            <a:ext cx="1065240" cy="801000"/>
          </a:xfrm>
          <a:prstGeom prst="rect">
            <a:avLst/>
          </a:prstGeom>
          <a:ln w="0">
            <a:noFill/>
          </a:ln>
        </p:spPr>
      </p:pic>
      <p:graphicFrame>
        <p:nvGraphicFramePr>
          <p:cNvPr id="102" name="Tabla 52"/>
          <p:cNvGraphicFramePr/>
          <p:nvPr/>
        </p:nvGraphicFramePr>
        <p:xfrm>
          <a:off x="574920" y="1291320"/>
          <a:ext cx="6390360" cy="5094360"/>
        </p:xfrm>
        <a:graphic>
          <a:graphicData uri="http://schemas.openxmlformats.org/drawingml/2006/table">
            <a:tbl>
              <a:tblPr/>
              <a:tblGrid>
                <a:gridCol w="1493640">
                  <a:extLst>
                    <a:ext uri="{9D8B030D-6E8A-4147-A177-3AD203B41FA5}">
                      <a16:colId xmlns:a16="http://schemas.microsoft.com/office/drawing/2014/main" val="20000"/>
                    </a:ext>
                  </a:extLst>
                </a:gridCol>
                <a:gridCol w="1315080">
                  <a:extLst>
                    <a:ext uri="{9D8B030D-6E8A-4147-A177-3AD203B41FA5}">
                      <a16:colId xmlns:a16="http://schemas.microsoft.com/office/drawing/2014/main" val="20001"/>
                    </a:ext>
                  </a:extLst>
                </a:gridCol>
                <a:gridCol w="1168920">
                  <a:extLst>
                    <a:ext uri="{9D8B030D-6E8A-4147-A177-3AD203B41FA5}">
                      <a16:colId xmlns:a16="http://schemas.microsoft.com/office/drawing/2014/main" val="20002"/>
                    </a:ext>
                  </a:extLst>
                </a:gridCol>
                <a:gridCol w="1134720">
                  <a:extLst>
                    <a:ext uri="{9D8B030D-6E8A-4147-A177-3AD203B41FA5}">
                      <a16:colId xmlns:a16="http://schemas.microsoft.com/office/drawing/2014/main" val="20003"/>
                    </a:ext>
                  </a:extLst>
                </a:gridCol>
                <a:gridCol w="1278000">
                  <a:extLst>
                    <a:ext uri="{9D8B030D-6E8A-4147-A177-3AD203B41FA5}">
                      <a16:colId xmlns:a16="http://schemas.microsoft.com/office/drawing/2014/main" val="20004"/>
                    </a:ext>
                  </a:extLst>
                </a:gridCol>
              </a:tblGrid>
              <a:tr h="304560">
                <a:tc>
                  <a:txBody>
                    <a:bodyPr/>
                    <a:lstStyle/>
                    <a:p>
                      <a:pPr algn="ctr" defTabSz="914400">
                        <a:lnSpc>
                          <a:spcPct val="100000"/>
                        </a:lnSpc>
                      </a:pPr>
                      <a:r>
                        <a:rPr lang="es-ES" sz="1300" b="1" strike="noStrike" spc="-1">
                          <a:solidFill>
                            <a:srgbClr val="582808"/>
                          </a:solidFill>
                          <a:latin typeface="Calibri"/>
                        </a:rPr>
                        <a:t>Distrito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Nº de anuncios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Activos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 Anuncios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 Activos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0"/>
                  </a:ext>
                </a:extLst>
              </a:tr>
              <a:tr h="319320">
                <a:tc>
                  <a:txBody>
                    <a:bodyPr/>
                    <a:lstStyle/>
                    <a:p>
                      <a:pPr defTabSz="914400">
                        <a:lnSpc>
                          <a:spcPct val="100000"/>
                        </a:lnSpc>
                      </a:pPr>
                      <a:r>
                        <a:rPr lang="es-ES" sz="1300" b="0" strike="noStrike" spc="-1">
                          <a:solidFill>
                            <a:srgbClr val="582808"/>
                          </a:solidFill>
                          <a:latin typeface="Calibri"/>
                        </a:rPr>
                        <a:t>Centro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12718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10436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40.722359</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41.576033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1"/>
                  </a:ext>
                </a:extLst>
              </a:tr>
              <a:tr h="319320">
                <a:tc>
                  <a:txBody>
                    <a:bodyPr/>
                    <a:lstStyle/>
                    <a:p>
                      <a:pPr defTabSz="914400">
                        <a:lnSpc>
                          <a:spcPct val="100000"/>
                        </a:lnSpc>
                      </a:pPr>
                      <a:r>
                        <a:rPr lang="es-ES" sz="1300" b="0" strike="noStrike" spc="-1">
                          <a:solidFill>
                            <a:srgbClr val="582808"/>
                          </a:solidFill>
                          <a:latin typeface="Calibri"/>
                        </a:rPr>
                        <a:t>Salamanca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2065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1655</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6.612020</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6.593363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2"/>
                  </a:ext>
                </a:extLst>
              </a:tr>
              <a:tr h="319320">
                <a:tc>
                  <a:txBody>
                    <a:bodyPr/>
                    <a:lstStyle/>
                    <a:p>
                      <a:pPr defTabSz="914400">
                        <a:lnSpc>
                          <a:spcPct val="100000"/>
                        </a:lnSpc>
                      </a:pPr>
                      <a:r>
                        <a:rPr lang="es-ES" sz="1300" b="0" strike="noStrike" spc="-1">
                          <a:solidFill>
                            <a:srgbClr val="582808"/>
                          </a:solidFill>
                          <a:latin typeface="Calibri"/>
                        </a:rPr>
                        <a:t>Tetuán</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2051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1728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6.567193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6.884188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3"/>
                  </a:ext>
                </a:extLst>
              </a:tr>
              <a:tr h="319320">
                <a:tc>
                  <a:txBody>
                    <a:bodyPr/>
                    <a:lstStyle/>
                    <a:p>
                      <a:pPr defTabSz="914400">
                        <a:lnSpc>
                          <a:spcPct val="100000"/>
                        </a:lnSpc>
                      </a:pPr>
                      <a:r>
                        <a:rPr lang="es-ES" sz="1300" b="0" strike="noStrike" spc="-1">
                          <a:solidFill>
                            <a:srgbClr val="582808"/>
                          </a:solidFill>
                          <a:latin typeface="Calibri"/>
                        </a:rPr>
                        <a:t>Chamberí</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2022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1609</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6.474336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6.410103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4"/>
                  </a:ext>
                </a:extLst>
              </a:tr>
              <a:tr h="319320">
                <a:tc>
                  <a:txBody>
                    <a:bodyPr/>
                    <a:lstStyle/>
                    <a:p>
                      <a:pPr defTabSz="914400">
                        <a:lnSpc>
                          <a:spcPct val="100000"/>
                        </a:lnSpc>
                      </a:pPr>
                      <a:r>
                        <a:rPr lang="es-ES" sz="1300" b="0" strike="noStrike" spc="-1">
                          <a:solidFill>
                            <a:srgbClr val="582808"/>
                          </a:solidFill>
                          <a:latin typeface="Calibri"/>
                        </a:rPr>
                        <a:t>Arganzuela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1626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1247</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5.206365</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4.967930</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5"/>
                  </a:ext>
                </a:extLst>
              </a:tr>
              <a:tr h="319320">
                <a:tc>
                  <a:txBody>
                    <a:bodyPr/>
                    <a:lstStyle/>
                    <a:p>
                      <a:pPr defTabSz="914400">
                        <a:lnSpc>
                          <a:spcPct val="100000"/>
                        </a:lnSpc>
                      </a:pPr>
                      <a:r>
                        <a:rPr lang="es-ES" sz="1300" b="0" strike="noStrike" spc="-1">
                          <a:solidFill>
                            <a:srgbClr val="582808"/>
                          </a:solidFill>
                          <a:latin typeface="Calibri"/>
                        </a:rPr>
                        <a:t>Carabanchel</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1169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953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3.743076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3.796661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6"/>
                  </a:ext>
                </a:extLst>
              </a:tr>
              <a:tr h="319320">
                <a:tc>
                  <a:txBody>
                    <a:bodyPr/>
                    <a:lstStyle/>
                    <a:p>
                      <a:pPr defTabSz="914400">
                        <a:lnSpc>
                          <a:spcPct val="100000"/>
                        </a:lnSpc>
                      </a:pPr>
                      <a:r>
                        <a:rPr lang="es-ES" sz="1300" b="0" strike="noStrike" spc="-1">
                          <a:solidFill>
                            <a:srgbClr val="582808"/>
                          </a:solidFill>
                          <a:latin typeface="Calibri"/>
                        </a:rPr>
                        <a:t>Retiro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1151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914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3.685441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3.641289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7"/>
                  </a:ext>
                </a:extLst>
              </a:tr>
              <a:tr h="319320">
                <a:tc>
                  <a:txBody>
                    <a:bodyPr/>
                    <a:lstStyle/>
                    <a:p>
                      <a:pPr defTabSz="914400">
                        <a:lnSpc>
                          <a:spcPct val="100000"/>
                        </a:lnSpc>
                      </a:pPr>
                      <a:r>
                        <a:rPr lang="es-ES" sz="1300" b="0" strike="noStrike" spc="-1">
                          <a:solidFill>
                            <a:srgbClr val="582808"/>
                          </a:solidFill>
                          <a:latin typeface="Calibri"/>
                        </a:rPr>
                        <a:t>Chamartín</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1085</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848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3.474112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3.378351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8"/>
                  </a:ext>
                </a:extLst>
              </a:tr>
              <a:tr h="319320">
                <a:tc>
                  <a:txBody>
                    <a:bodyPr/>
                    <a:lstStyle/>
                    <a:p>
                      <a:pPr defTabSz="914400">
                        <a:lnSpc>
                          <a:spcPct val="100000"/>
                        </a:lnSpc>
                      </a:pPr>
                      <a:r>
                        <a:rPr lang="es-ES" sz="1300" b="0" strike="noStrike" spc="-1">
                          <a:solidFill>
                            <a:srgbClr val="582808"/>
                          </a:solidFill>
                          <a:latin typeface="Calibri"/>
                        </a:rPr>
                        <a:t>Ciudad Lineal</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1062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832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3.400467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3.314609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9"/>
                  </a:ext>
                </a:extLst>
              </a:tr>
              <a:tr h="319320">
                <a:tc>
                  <a:txBody>
                    <a:bodyPr/>
                    <a:lstStyle/>
                    <a:p>
                      <a:pPr defTabSz="914400">
                        <a:lnSpc>
                          <a:spcPct val="100000"/>
                        </a:lnSpc>
                      </a:pPr>
                      <a:r>
                        <a:rPr lang="es-ES" sz="1300" b="0" strike="noStrike" spc="-1">
                          <a:solidFill>
                            <a:srgbClr val="582808"/>
                          </a:solidFill>
                          <a:latin typeface="Calibri"/>
                        </a:rPr>
                        <a:t>Puente de Vallecas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998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777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3.195543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3.095494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0"/>
                  </a:ext>
                </a:extLst>
              </a:tr>
              <a:tr h="319320">
                <a:tc>
                  <a:txBody>
                    <a:bodyPr/>
                    <a:lstStyle/>
                    <a:p>
                      <a:pPr defTabSz="914400">
                        <a:lnSpc>
                          <a:spcPct val="100000"/>
                        </a:lnSpc>
                      </a:pPr>
                      <a:r>
                        <a:rPr lang="es-ES" sz="1300" b="0" strike="noStrike" spc="-1">
                          <a:solidFill>
                            <a:srgbClr val="582808"/>
                          </a:solidFill>
                          <a:latin typeface="Calibri"/>
                        </a:rPr>
                        <a:t>Moncloa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907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683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2.904166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2.721007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1"/>
                  </a:ext>
                </a:extLst>
              </a:tr>
              <a:tr h="319320">
                <a:tc>
                  <a:txBody>
                    <a:bodyPr/>
                    <a:lstStyle/>
                    <a:p>
                      <a:pPr defTabSz="914400">
                        <a:lnSpc>
                          <a:spcPct val="100000"/>
                        </a:lnSpc>
                      </a:pPr>
                      <a:r>
                        <a:rPr lang="es-ES" sz="1300" b="0" strike="noStrike" spc="-1">
                          <a:solidFill>
                            <a:srgbClr val="582808"/>
                          </a:solidFill>
                          <a:latin typeface="Calibri"/>
                        </a:rPr>
                        <a:t>Latina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873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672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2.795300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2.677184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2"/>
                  </a:ext>
                </a:extLst>
              </a:tr>
              <a:tr h="319320">
                <a:tc>
                  <a:txBody>
                    <a:bodyPr/>
                    <a:lstStyle/>
                    <a:p>
                      <a:pPr defTabSz="914400">
                        <a:lnSpc>
                          <a:spcPct val="100000"/>
                        </a:lnSpc>
                      </a:pPr>
                      <a:r>
                        <a:rPr lang="es-ES" sz="1300" b="0" strike="noStrike" spc="-1">
                          <a:solidFill>
                            <a:srgbClr val="582808"/>
                          </a:solidFill>
                          <a:latin typeface="Calibri"/>
                        </a:rPr>
                        <a:t>Canillejas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713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512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2.282988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2.039759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3"/>
                  </a:ext>
                </a:extLst>
              </a:tr>
              <a:tr h="319320">
                <a:tc>
                  <a:txBody>
                    <a:bodyPr/>
                    <a:lstStyle/>
                    <a:p>
                      <a:pPr defTabSz="914400">
                        <a:lnSpc>
                          <a:spcPct val="100000"/>
                        </a:lnSpc>
                      </a:pPr>
                      <a:r>
                        <a:rPr lang="es-ES" sz="1300" b="0" strike="noStrike" spc="-1">
                          <a:solidFill>
                            <a:srgbClr val="582808"/>
                          </a:solidFill>
                          <a:latin typeface="Calibri"/>
                        </a:rPr>
                        <a:t>Usera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678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567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2.170920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2.258874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4"/>
                  </a:ext>
                </a:extLst>
              </a:tr>
              <a:tr h="319320">
                <a:tc>
                  <a:txBody>
                    <a:bodyPr/>
                    <a:lstStyle/>
                    <a:p>
                      <a:pPr defTabSz="914400">
                        <a:lnSpc>
                          <a:spcPct val="100000"/>
                        </a:lnSpc>
                      </a:pPr>
                      <a:r>
                        <a:rPr lang="es-ES" sz="1300" b="0" strike="noStrike" spc="-1">
                          <a:solidFill>
                            <a:srgbClr val="582808"/>
                          </a:solidFill>
                          <a:latin typeface="Calibri"/>
                        </a:rPr>
                        <a:t>Hortaleza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663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566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2.122891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2.254890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dirty="0">
              <a:solidFill>
                <a:schemeClr val="lt1"/>
              </a:solidFill>
              <a:latin typeface="Calibri"/>
            </a:endParaRPr>
          </a:p>
        </p:txBody>
      </p:sp>
      <p:sp>
        <p:nvSpPr>
          <p:cNvPr id="93"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pic>
        <p:nvPicPr>
          <p:cNvPr id="95" name="Imagen 6"/>
          <p:cNvPicPr/>
          <p:nvPr/>
        </p:nvPicPr>
        <p:blipFill>
          <a:blip r:embed="rId3"/>
          <a:stretch/>
        </p:blipFill>
        <p:spPr>
          <a:xfrm>
            <a:off x="10598040" y="479520"/>
            <a:ext cx="1065240" cy="801000"/>
          </a:xfrm>
          <a:prstGeom prst="rect">
            <a:avLst/>
          </a:prstGeom>
          <a:ln w="0">
            <a:noFill/>
          </a:ln>
        </p:spPr>
      </p:pic>
      <p:pic>
        <p:nvPicPr>
          <p:cNvPr id="3" name="Imagen 2">
            <a:extLst>
              <a:ext uri="{FF2B5EF4-FFF2-40B4-BE49-F238E27FC236}">
                <a16:creationId xmlns:a16="http://schemas.microsoft.com/office/drawing/2014/main" id="{3E588AE1-F5A7-41B5-845B-7B2DD06AE6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760" y="1204024"/>
            <a:ext cx="4049050" cy="3251397"/>
          </a:xfrm>
          <a:prstGeom prst="rect">
            <a:avLst/>
          </a:prstGeom>
        </p:spPr>
      </p:pic>
      <p:pic>
        <p:nvPicPr>
          <p:cNvPr id="5" name="Imagen 4">
            <a:extLst>
              <a:ext uri="{FF2B5EF4-FFF2-40B4-BE49-F238E27FC236}">
                <a16:creationId xmlns:a16="http://schemas.microsoft.com/office/drawing/2014/main" id="{15D7F952-9DB8-4BED-8B5A-69B9E56A55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65914" y="1280519"/>
            <a:ext cx="6873565" cy="3251397"/>
          </a:xfrm>
          <a:prstGeom prst="rect">
            <a:avLst/>
          </a:prstGeom>
        </p:spPr>
      </p:pic>
      <p:sp>
        <p:nvSpPr>
          <p:cNvPr id="9" name="CuadroTexto 8">
            <a:extLst>
              <a:ext uri="{FF2B5EF4-FFF2-40B4-BE49-F238E27FC236}">
                <a16:creationId xmlns:a16="http://schemas.microsoft.com/office/drawing/2014/main" id="{FE36C4ED-A581-4843-84C2-E380A7788734}"/>
              </a:ext>
            </a:extLst>
          </p:cNvPr>
          <p:cNvSpPr txBox="1"/>
          <p:nvPr/>
        </p:nvSpPr>
        <p:spPr>
          <a:xfrm>
            <a:off x="765102" y="4786657"/>
            <a:ext cx="10974378" cy="1815882"/>
          </a:xfrm>
          <a:prstGeom prst="rect">
            <a:avLst/>
          </a:prstGeom>
          <a:noFill/>
        </p:spPr>
        <p:txBody>
          <a:bodyPr wrap="square" rtlCol="0">
            <a:spAutoFit/>
          </a:bodyPr>
          <a:lstStyle/>
          <a:p>
            <a:pPr algn="just"/>
            <a:r>
              <a:rPr lang="es-ES" sz="1600" dirty="0">
                <a:solidFill>
                  <a:srgbClr val="582808"/>
                </a:solidFill>
              </a:rPr>
              <a:t>Se analizó la variable </a:t>
            </a:r>
            <a:r>
              <a:rPr lang="es-ES" sz="1600" dirty="0" err="1">
                <a:solidFill>
                  <a:srgbClr val="582808"/>
                </a:solidFill>
              </a:rPr>
              <a:t>minimum_nights</a:t>
            </a:r>
            <a:r>
              <a:rPr lang="es-ES" sz="1600" dirty="0">
                <a:solidFill>
                  <a:srgbClr val="582808"/>
                </a:solidFill>
              </a:rPr>
              <a:t> (noches mínimas exigidas para reservar) para explorar posibles patrones por distrito: primero con un histograma (acotado a 1–30 noches para interpretar mejor la distribución) y después con un </a:t>
            </a:r>
            <a:r>
              <a:rPr lang="es-ES" sz="1600" dirty="0" err="1">
                <a:solidFill>
                  <a:srgbClr val="582808"/>
                </a:solidFill>
              </a:rPr>
              <a:t>scatter</a:t>
            </a:r>
            <a:r>
              <a:rPr lang="es-ES" sz="1600" dirty="0">
                <a:solidFill>
                  <a:srgbClr val="582808"/>
                </a:solidFill>
              </a:rPr>
              <a:t> por latitud/longitud categorizando las estancias (1–3, 4–7, 8+). En conjunto, no se observa una relación directa entre las noches mínimas y el precio medio del m² por distrito; sin embargo, sí aparece un patrón consistente: los distritos con mayor concentración de anuncios de Airbnb coinciden con los que acumulan más alojamientos de estancia mínima baja (especialmente 1 noche), lo que sugiere una mayor orientación a estancias cortas y rotación turística en zonas como Centro y otros distritos de alta demanda (p. ej., Salamanca, Chamberí, Retiro, Tetuán).</a:t>
            </a:r>
          </a:p>
        </p:txBody>
      </p:sp>
    </p:spTree>
    <p:extLst>
      <p:ext uri="{BB962C8B-B14F-4D97-AF65-F5344CB8AC3E}">
        <p14:creationId xmlns:p14="http://schemas.microsoft.com/office/powerpoint/2010/main" val="24190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104"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5</a:t>
            </a:r>
            <a:r>
              <a:rPr lang="es-ES" sz="3500" b="1" strike="noStrike" spc="-1" dirty="0">
                <a:solidFill>
                  <a:srgbClr val="582808"/>
                </a:solidFill>
                <a:latin typeface="Calibri Light"/>
              </a:rPr>
              <a:t>. Conclusiones</a:t>
            </a:r>
            <a:endParaRPr lang="es-ES" sz="3500" b="0" strike="noStrike" spc="-1" dirty="0">
              <a:solidFill>
                <a:srgbClr val="582808"/>
              </a:solidFill>
              <a:latin typeface="Arial"/>
            </a:endParaRPr>
          </a:p>
        </p:txBody>
      </p:sp>
      <p:pic>
        <p:nvPicPr>
          <p:cNvPr id="105" name="Imagen 6"/>
          <p:cNvPicPr/>
          <p:nvPr/>
        </p:nvPicPr>
        <p:blipFill>
          <a:blip r:embed="rId2"/>
          <a:stretch/>
        </p:blipFill>
        <p:spPr>
          <a:xfrm>
            <a:off x="10598040" y="479520"/>
            <a:ext cx="1065240" cy="798120"/>
          </a:xfrm>
          <a:prstGeom prst="rect">
            <a:avLst/>
          </a:prstGeom>
          <a:ln w="0">
            <a:noFill/>
          </a:ln>
        </p:spPr>
      </p:pic>
      <p:sp>
        <p:nvSpPr>
          <p:cNvPr id="2" name="CuadroTexto 1">
            <a:extLst>
              <a:ext uri="{FF2B5EF4-FFF2-40B4-BE49-F238E27FC236}">
                <a16:creationId xmlns:a16="http://schemas.microsoft.com/office/drawing/2014/main" id="{E99A7474-2619-437F-8144-0A5FD3A97648}"/>
              </a:ext>
            </a:extLst>
          </p:cNvPr>
          <p:cNvSpPr txBox="1"/>
          <p:nvPr/>
        </p:nvSpPr>
        <p:spPr>
          <a:xfrm>
            <a:off x="646043" y="1411357"/>
            <a:ext cx="11135520" cy="4247317"/>
          </a:xfrm>
          <a:prstGeom prst="rect">
            <a:avLst/>
          </a:prstGeom>
          <a:noFill/>
        </p:spPr>
        <p:txBody>
          <a:bodyPr wrap="square" rtlCol="0">
            <a:spAutoFit/>
          </a:bodyPr>
          <a:lstStyle/>
          <a:p>
            <a:r>
              <a:rPr lang="es-ES" dirty="0">
                <a:solidFill>
                  <a:srgbClr val="582808"/>
                </a:solidFill>
              </a:rPr>
              <a:t>El presente análisis se ha centrado en estudiar la relación entre la densidad de alojamientos turísticos ofertados en Airbnb y su relación con el precio de la vivienda en la ciudad de Madrid, tanto en venta como en alquiler, desde una perspectiva territorial y temporal.</a:t>
            </a:r>
          </a:p>
          <a:p>
            <a:endParaRPr lang="es-ES" dirty="0">
              <a:solidFill>
                <a:srgbClr val="582808"/>
              </a:solidFill>
            </a:endParaRPr>
          </a:p>
          <a:p>
            <a:r>
              <a:rPr lang="es-ES" dirty="0">
                <a:solidFill>
                  <a:srgbClr val="582808"/>
                </a:solidFill>
              </a:rPr>
              <a:t>Los resultados muestran una clara asociación entre la concentración de viviendas ofertadas como alquiler turístico en Airbnb y los precios de las viviendas en Madrid. Tanto a nivel distrito como a nivel barrio se observa que las zonas con más densidad turística tienden a situarse entre las que tienen un mayor precio del metro cuadrado.</a:t>
            </a:r>
          </a:p>
          <a:p>
            <a:endParaRPr lang="es-ES" dirty="0">
              <a:solidFill>
                <a:srgbClr val="582808"/>
              </a:solidFill>
            </a:endParaRPr>
          </a:p>
          <a:p>
            <a:r>
              <a:rPr lang="es-ES" dirty="0">
                <a:solidFill>
                  <a:srgbClr val="582808"/>
                </a:solidFill>
              </a:rPr>
              <a:t>El estudio evidencia que la presión turística no se distribuye homogéneamente en la ciudad, sino que se concentra en las zonas céntricas y de alto valor urbano lo que provoca la existencia de barrios especialmente vulnerables a la transformación del parque residencial.</a:t>
            </a:r>
          </a:p>
          <a:p>
            <a:endParaRPr lang="es-ES" dirty="0">
              <a:solidFill>
                <a:srgbClr val="582808"/>
              </a:solidFill>
            </a:endParaRPr>
          </a:p>
          <a:p>
            <a:r>
              <a:rPr lang="es-ES" dirty="0">
                <a:solidFill>
                  <a:srgbClr val="582808"/>
                </a:solidFill>
              </a:rPr>
              <a:t>En conclusión, este estudio aporta una evidencia sólida de que la expansión del alquiler turístico se asocia con niveles elevados de precios de la vivienda en Madrid, especialmente en determinadas zonas de la ciudad, subrayando la importancia de abordarlo desde una perspectiva territorial, temporal y basada en datos.</a:t>
            </a:r>
          </a:p>
        </p:txBody>
      </p:sp>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351</TotalTime>
  <Words>1561</Words>
  <Application>Microsoft Office PowerPoint</Application>
  <PresentationFormat>Panorámica</PresentationFormat>
  <Paragraphs>148</Paragraphs>
  <Slides>12</Slides>
  <Notes>3</Notes>
  <HiddenSlides>0</HiddenSlides>
  <MMClips>0</MMClips>
  <ScaleCrop>false</ScaleCrop>
  <HeadingPairs>
    <vt:vector size="6" baseType="variant">
      <vt:variant>
        <vt:lpstr>Fuentes usadas</vt:lpstr>
      </vt:variant>
      <vt:variant>
        <vt:i4>6</vt:i4>
      </vt:variant>
      <vt:variant>
        <vt:lpstr>Tema</vt:lpstr>
      </vt:variant>
      <vt:variant>
        <vt:i4>11</vt:i4>
      </vt:variant>
      <vt:variant>
        <vt:lpstr>Títulos de diapositiva</vt:lpstr>
      </vt:variant>
      <vt:variant>
        <vt:i4>12</vt:i4>
      </vt:variant>
    </vt:vector>
  </HeadingPairs>
  <TitlesOfParts>
    <vt:vector size="29" baseType="lpstr">
      <vt:lpstr>Arial</vt:lpstr>
      <vt:lpstr>Calibri</vt:lpstr>
      <vt:lpstr>Calibri Light</vt:lpstr>
      <vt:lpstr>Symbol</vt:lpstr>
      <vt:lpstr>Times New Roman</vt:lpstr>
      <vt:lpstr>Wingdings</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Sara Ruiz Iniesta</dc:creator>
  <dc:description/>
  <cp:lastModifiedBy>Román Diaz</cp:lastModifiedBy>
  <cp:revision>23</cp:revision>
  <dcterms:created xsi:type="dcterms:W3CDTF">2026-01-04T18:35:09Z</dcterms:created>
  <dcterms:modified xsi:type="dcterms:W3CDTF">2026-01-09T18:28:07Z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Panorámica</vt:lpwstr>
  </property>
  <property fmtid="{D5CDD505-2E9C-101B-9397-08002B2CF9AE}" pid="3" name="Slides">
    <vt:i4>10</vt:i4>
  </property>
</Properties>
</file>